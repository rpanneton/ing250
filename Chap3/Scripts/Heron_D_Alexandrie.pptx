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09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2503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0121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41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808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16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5643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04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4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334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97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7F11B-07EF-49E4-A8EE-C0ED547A8BF5}" type="datetimeFigureOut">
              <a:rPr lang="fr-FR" smtClean="0"/>
              <a:t>12/11/2013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E9775-CBAC-4B61-A207-8387A5BBFF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à coins arrondis 39"/>
          <p:cNvSpPr/>
          <p:nvPr/>
        </p:nvSpPr>
        <p:spPr>
          <a:xfrm>
            <a:off x="495662" y="3176871"/>
            <a:ext cx="8540834" cy="356449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à coins arrondis 27"/>
          <p:cNvSpPr/>
          <p:nvPr/>
        </p:nvSpPr>
        <p:spPr>
          <a:xfrm>
            <a:off x="495662" y="1124744"/>
            <a:ext cx="6668626" cy="191561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4338695" y="3486288"/>
            <a:ext cx="4502867" cy="275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1</a:t>
            </a:r>
            <a:r>
              <a:rPr lang="fr-FR" sz="1200" baseline="30000" dirty="0" smtClean="0"/>
              <a:t>e</a:t>
            </a:r>
            <a:r>
              <a:rPr lang="fr-FR" sz="1200" dirty="0" smtClean="0"/>
              <a:t> </a:t>
            </a:r>
            <a:endParaRPr lang="fr-FR" sz="1200" dirty="0"/>
          </a:p>
        </p:txBody>
      </p:sp>
      <p:sp>
        <p:nvSpPr>
          <p:cNvPr id="5" name="Rectangle 4"/>
          <p:cNvSpPr/>
          <p:nvPr/>
        </p:nvSpPr>
        <p:spPr>
          <a:xfrm>
            <a:off x="4338695" y="4202378"/>
            <a:ext cx="529087" cy="234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2</a:t>
            </a:r>
            <a:r>
              <a:rPr lang="fr-FR" sz="1200" baseline="30000" dirty="0" smtClean="0"/>
              <a:t>e</a:t>
            </a:r>
            <a:r>
              <a:rPr lang="fr-FR" sz="1200" dirty="0" smtClean="0"/>
              <a:t> </a:t>
            </a:r>
            <a:endParaRPr lang="fr-FR" sz="1200" dirty="0"/>
          </a:p>
        </p:txBody>
      </p:sp>
      <p:sp>
        <p:nvSpPr>
          <p:cNvPr id="6" name="Rectangle 5"/>
          <p:cNvSpPr/>
          <p:nvPr/>
        </p:nvSpPr>
        <p:spPr>
          <a:xfrm>
            <a:off x="5165159" y="4202378"/>
            <a:ext cx="866802" cy="1429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3</a:t>
            </a:r>
            <a:r>
              <a:rPr lang="fr-FR" sz="1200" baseline="30000" dirty="0" smtClean="0"/>
              <a:t>e</a:t>
            </a:r>
            <a:r>
              <a:rPr lang="fr-FR" sz="1200" dirty="0" smtClean="0"/>
              <a:t> </a:t>
            </a:r>
            <a:endParaRPr lang="fr-FR" sz="1200" dirty="0"/>
          </a:p>
        </p:txBody>
      </p:sp>
      <p:sp>
        <p:nvSpPr>
          <p:cNvPr id="7" name="Rectangle 6"/>
          <p:cNvSpPr/>
          <p:nvPr/>
        </p:nvSpPr>
        <p:spPr>
          <a:xfrm>
            <a:off x="6329337" y="4202378"/>
            <a:ext cx="1089131" cy="11401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4</a:t>
            </a:r>
            <a:r>
              <a:rPr lang="fr-FR" sz="1200" baseline="30000" dirty="0" smtClean="0"/>
              <a:t>e</a:t>
            </a:r>
            <a:r>
              <a:rPr lang="fr-FR" sz="1200" dirty="0" smtClean="0"/>
              <a:t> </a:t>
            </a:r>
            <a:endParaRPr lang="fr-FR" sz="1200" dirty="0"/>
          </a:p>
        </p:txBody>
      </p:sp>
      <p:sp>
        <p:nvSpPr>
          <p:cNvPr id="8" name="Rectangle 7"/>
          <p:cNvSpPr/>
          <p:nvPr/>
        </p:nvSpPr>
        <p:spPr>
          <a:xfrm>
            <a:off x="7715845" y="4202378"/>
            <a:ext cx="1125717" cy="11015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5</a:t>
            </a:r>
            <a:r>
              <a:rPr lang="fr-FR" sz="1200" baseline="30000" dirty="0" smtClean="0"/>
              <a:t>e</a:t>
            </a:r>
            <a:r>
              <a:rPr lang="fr-FR" sz="1200" dirty="0" smtClean="0"/>
              <a:t> </a:t>
            </a:r>
            <a:endParaRPr lang="fr-FR" sz="1200" dirty="0"/>
          </a:p>
        </p:txBody>
      </p:sp>
      <p:sp>
        <p:nvSpPr>
          <p:cNvPr id="10" name="ZoneTexte 9"/>
          <p:cNvSpPr txBox="1"/>
          <p:nvPr/>
        </p:nvSpPr>
        <p:spPr>
          <a:xfrm>
            <a:off x="4078785" y="3479149"/>
            <a:ext cx="205767" cy="211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1</a:t>
            </a:r>
            <a:endParaRPr lang="fr-FR" sz="1200" dirty="0"/>
          </a:p>
        </p:txBody>
      </p:sp>
      <p:sp>
        <p:nvSpPr>
          <p:cNvPr id="11" name="ZoneTexte 10"/>
          <p:cNvSpPr txBox="1"/>
          <p:nvPr/>
        </p:nvSpPr>
        <p:spPr>
          <a:xfrm>
            <a:off x="4086567" y="3967811"/>
            <a:ext cx="1018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 smtClean="0"/>
              <a:t>16/8.5 = 1.88</a:t>
            </a:r>
            <a:endParaRPr lang="fr-FR" sz="1200" dirty="0"/>
          </a:p>
        </p:txBody>
      </p:sp>
      <p:sp>
        <p:nvSpPr>
          <p:cNvPr id="12" name="ZoneTexte 11"/>
          <p:cNvSpPr txBox="1"/>
          <p:nvPr/>
        </p:nvSpPr>
        <p:spPr>
          <a:xfrm>
            <a:off x="5061696" y="3967812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 smtClean="0"/>
              <a:t>16/5.19=3.08</a:t>
            </a:r>
            <a:endParaRPr lang="fr-FR" sz="1200" dirty="0"/>
          </a:p>
        </p:txBody>
      </p:sp>
      <p:sp>
        <p:nvSpPr>
          <p:cNvPr id="13" name="ZoneTexte 12"/>
          <p:cNvSpPr txBox="1"/>
          <p:nvPr/>
        </p:nvSpPr>
        <p:spPr>
          <a:xfrm>
            <a:off x="6353223" y="3967811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 smtClean="0"/>
              <a:t>16/4.14=3.86</a:t>
            </a:r>
            <a:endParaRPr lang="fr-FR" sz="1200" dirty="0"/>
          </a:p>
        </p:txBody>
      </p:sp>
      <p:sp>
        <p:nvSpPr>
          <p:cNvPr id="14" name="ZoneTexte 13"/>
          <p:cNvSpPr txBox="1"/>
          <p:nvPr/>
        </p:nvSpPr>
        <p:spPr>
          <a:xfrm>
            <a:off x="7758025" y="3967810"/>
            <a:ext cx="10262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 smtClean="0"/>
              <a:t>16/4.00=4.00</a:t>
            </a:r>
            <a:endParaRPr lang="fr-FR" sz="1200" dirty="0"/>
          </a:p>
        </p:txBody>
      </p:sp>
      <p:sp>
        <p:nvSpPr>
          <p:cNvPr id="15" name="ZoneTexte 14"/>
          <p:cNvSpPr txBox="1"/>
          <p:nvPr/>
        </p:nvSpPr>
        <p:spPr>
          <a:xfrm>
            <a:off x="6345640" y="3205346"/>
            <a:ext cx="374940" cy="211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16/1</a:t>
            </a:r>
            <a:endParaRPr lang="fr-FR" sz="1200" dirty="0"/>
          </a:p>
        </p:txBody>
      </p:sp>
      <p:sp>
        <p:nvSpPr>
          <p:cNvPr id="16" name="ZoneTexte 15"/>
          <p:cNvSpPr txBox="1"/>
          <p:nvPr/>
        </p:nvSpPr>
        <p:spPr>
          <a:xfrm rot="16200000">
            <a:off x="4051274" y="5195659"/>
            <a:ext cx="290865" cy="216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8.5</a:t>
            </a:r>
            <a:endParaRPr lang="fr-FR" sz="1200" dirty="0"/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4871762" y="4808738"/>
            <a:ext cx="350952" cy="216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5.19</a:t>
            </a:r>
            <a:endParaRPr lang="fr-FR" sz="1200" dirty="0"/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6035940" y="4664159"/>
            <a:ext cx="350952" cy="216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4.14</a:t>
            </a:r>
            <a:endParaRPr lang="fr-FR" sz="1200" dirty="0"/>
          </a:p>
        </p:txBody>
      </p:sp>
      <p:sp>
        <p:nvSpPr>
          <p:cNvPr id="19" name="ZoneTexte 18"/>
          <p:cNvSpPr txBox="1"/>
          <p:nvPr/>
        </p:nvSpPr>
        <p:spPr>
          <a:xfrm rot="16200000">
            <a:off x="7422448" y="4644882"/>
            <a:ext cx="350952" cy="216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4.00</a:t>
            </a:r>
            <a:endParaRPr lang="fr-FR" sz="1200" dirty="0"/>
          </a:p>
        </p:txBody>
      </p:sp>
      <p:sp>
        <p:nvSpPr>
          <p:cNvPr id="20" name="ZoneTexte 19"/>
          <p:cNvSpPr txBox="1"/>
          <p:nvPr/>
        </p:nvSpPr>
        <p:spPr>
          <a:xfrm>
            <a:off x="323528" y="260648"/>
            <a:ext cx="842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Algerian" panose="04020705040A02060702" pitchFamily="82" charset="0"/>
              </a:rPr>
              <a:t>La racine carrée d’un nombre par la</a:t>
            </a:r>
            <a:br>
              <a:rPr lang="fr-FR" sz="2000" dirty="0" smtClean="0">
                <a:latin typeface="Algerian" panose="04020705040A02060702" pitchFamily="82" charset="0"/>
              </a:rPr>
            </a:br>
            <a:r>
              <a:rPr lang="fr-FR" sz="2000" dirty="0" smtClean="0">
                <a:latin typeface="Algerian" panose="04020705040A02060702" pitchFamily="82" charset="0"/>
              </a:rPr>
              <a:t>méthode itérative de Héron d’Alexandrie (1</a:t>
            </a:r>
            <a:r>
              <a:rPr lang="fr-FR" sz="2000" baseline="30000" dirty="0" smtClean="0">
                <a:latin typeface="Algerian" panose="04020705040A02060702" pitchFamily="82" charset="0"/>
              </a:rPr>
              <a:t>er</a:t>
            </a:r>
            <a:r>
              <a:rPr lang="fr-FR" sz="2000" dirty="0" smtClean="0">
                <a:latin typeface="Algerian" panose="04020705040A02060702" pitchFamily="82" charset="0"/>
              </a:rPr>
              <a:t> </a:t>
            </a:r>
            <a:r>
              <a:rPr lang="fr-FR" sz="2000" dirty="0" err="1" smtClean="0">
                <a:latin typeface="Algerian" panose="04020705040A02060702" pitchFamily="82" charset="0"/>
              </a:rPr>
              <a:t>sciècle</a:t>
            </a:r>
            <a:r>
              <a:rPr lang="fr-FR" sz="2000" dirty="0" smtClean="0">
                <a:latin typeface="Algerian" panose="04020705040A02060702" pitchFamily="82" charset="0"/>
              </a:rPr>
              <a:t> </a:t>
            </a:r>
            <a:r>
              <a:rPr lang="fr-FR" sz="2000" dirty="0" err="1" smtClean="0">
                <a:latin typeface="Algerian" panose="04020705040A02060702" pitchFamily="82" charset="0"/>
              </a:rPr>
              <a:t>ap</a:t>
            </a:r>
            <a:r>
              <a:rPr lang="fr-FR" sz="2000" dirty="0" smtClean="0">
                <a:latin typeface="Algerian" panose="04020705040A02060702" pitchFamily="82" charset="0"/>
              </a:rPr>
              <a:t>. J.C.)</a:t>
            </a:r>
            <a:endParaRPr lang="fr-FR" sz="2000" dirty="0">
              <a:latin typeface="Algerian" panose="04020705040A02060702" pitchFamily="82" charset="0"/>
            </a:endParaRPr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180750"/>
              </p:ext>
            </p:extLst>
          </p:nvPr>
        </p:nvGraphicFramePr>
        <p:xfrm>
          <a:off x="577220" y="1972964"/>
          <a:ext cx="1926326" cy="831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1117440" imgH="482400" progId="Equation.DSMT4">
                  <p:embed/>
                </p:oleObj>
              </mc:Choice>
              <mc:Fallback>
                <p:oleObj name="Equation" r:id="rId3" imgW="111744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7220" y="1972964"/>
                        <a:ext cx="1926326" cy="831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611560" y="1204660"/>
            <a:ext cx="2723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Formule récursive pour tendre</a:t>
            </a:r>
          </a:p>
          <a:p>
            <a:r>
              <a:rPr lang="fr-FR" sz="1600" dirty="0" smtClean="0"/>
              <a:t>vers un carré</a:t>
            </a:r>
            <a:endParaRPr lang="fr-FR" sz="1600" dirty="0"/>
          </a:p>
        </p:txBody>
      </p:sp>
      <p:sp>
        <p:nvSpPr>
          <p:cNvPr id="23" name="Rectangle 22"/>
          <p:cNvSpPr/>
          <p:nvPr/>
        </p:nvSpPr>
        <p:spPr>
          <a:xfrm>
            <a:off x="3412404" y="1497048"/>
            <a:ext cx="861878" cy="14523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Aire de surface</a:t>
            </a:r>
            <a:br>
              <a:rPr lang="fr-FR" sz="1200" dirty="0" smtClean="0"/>
            </a:br>
            <a:r>
              <a:rPr lang="fr-FR" sz="1200" i="1" dirty="0" smtClean="0"/>
              <a:t>N</a:t>
            </a:r>
            <a:endParaRPr lang="fr-FR" sz="1200" i="1" dirty="0"/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156636"/>
              </p:ext>
            </p:extLst>
          </p:nvPr>
        </p:nvGraphicFramePr>
        <p:xfrm>
          <a:off x="3081701" y="2061110"/>
          <a:ext cx="233997" cy="324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5" imgW="164880" imgH="228600" progId="Equation.DSMT4">
                  <p:embed/>
                </p:oleObj>
              </mc:Choice>
              <mc:Fallback>
                <p:oleObj name="Equation" r:id="rId5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81701" y="2061110"/>
                        <a:ext cx="233997" cy="324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614622"/>
              </p:ext>
            </p:extLst>
          </p:nvPr>
        </p:nvGraphicFramePr>
        <p:xfrm>
          <a:off x="3627443" y="1196969"/>
          <a:ext cx="431800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7" imgW="368280" imgH="228600" progId="Equation.DSMT4">
                  <p:embed/>
                </p:oleObj>
              </mc:Choice>
              <mc:Fallback>
                <p:oleObj name="Equation" r:id="rId7" imgW="368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27443" y="1196969"/>
                        <a:ext cx="431800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Connecteur droit avec flèche 29"/>
          <p:cNvCxnSpPr/>
          <p:nvPr/>
        </p:nvCxnSpPr>
        <p:spPr>
          <a:xfrm>
            <a:off x="4338695" y="2223209"/>
            <a:ext cx="44932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209771" y="1789435"/>
            <a:ext cx="1101977" cy="8675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Aire de surface</a:t>
            </a:r>
            <a:br>
              <a:rPr lang="fr-FR" sz="1200" dirty="0" smtClean="0"/>
            </a:br>
            <a:r>
              <a:rPr lang="fr-FR" sz="1200" i="1" dirty="0" smtClean="0"/>
              <a:t>N</a:t>
            </a:r>
            <a:endParaRPr lang="fr-FR" sz="1200" i="1" dirty="0"/>
          </a:p>
        </p:txBody>
      </p:sp>
      <p:graphicFrame>
        <p:nvGraphicFramePr>
          <p:cNvPr id="32" name="Obje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2351011"/>
              </p:ext>
            </p:extLst>
          </p:nvPr>
        </p:nvGraphicFramePr>
        <p:xfrm>
          <a:off x="4810843" y="2060575"/>
          <a:ext cx="360362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9" imgW="253800" imgH="228600" progId="Equation.DSMT4">
                  <p:embed/>
                </p:oleObj>
              </mc:Choice>
              <mc:Fallback>
                <p:oleObj name="Equation" r:id="rId9" imgW="2538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10843" y="2060575"/>
                        <a:ext cx="360362" cy="325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34466"/>
              </p:ext>
            </p:extLst>
          </p:nvPr>
        </p:nvGraphicFramePr>
        <p:xfrm>
          <a:off x="5492750" y="1473200"/>
          <a:ext cx="536575" cy="26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11" imgW="457200" imgH="228600" progId="Equation.DSMT4">
                  <p:embed/>
                </p:oleObj>
              </mc:Choice>
              <mc:Fallback>
                <p:oleObj name="Equation" r:id="rId11" imgW="4572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492750" y="1473200"/>
                        <a:ext cx="536575" cy="268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e 37"/>
          <p:cNvGrpSpPr/>
          <p:nvPr/>
        </p:nvGrpSpPr>
        <p:grpSpPr>
          <a:xfrm>
            <a:off x="6476092" y="2166191"/>
            <a:ext cx="390252" cy="114036"/>
            <a:chOff x="6476092" y="2166191"/>
            <a:chExt cx="407752" cy="114036"/>
          </a:xfrm>
        </p:grpSpPr>
        <p:sp>
          <p:nvSpPr>
            <p:cNvPr id="35" name="Ellipse 34"/>
            <p:cNvSpPr/>
            <p:nvPr/>
          </p:nvSpPr>
          <p:spPr>
            <a:xfrm>
              <a:off x="6476092" y="2166191"/>
              <a:ext cx="114036" cy="11403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Ellipse 35"/>
            <p:cNvSpPr/>
            <p:nvPr/>
          </p:nvSpPr>
          <p:spPr>
            <a:xfrm>
              <a:off x="6622950" y="2166191"/>
              <a:ext cx="114036" cy="11403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7" name="Ellipse 36"/>
            <p:cNvSpPr/>
            <p:nvPr/>
          </p:nvSpPr>
          <p:spPr>
            <a:xfrm>
              <a:off x="6769808" y="2166191"/>
              <a:ext cx="114036" cy="11403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9" name="ZoneTexte 38"/>
          <p:cNvSpPr txBox="1"/>
          <p:nvPr/>
        </p:nvSpPr>
        <p:spPr>
          <a:xfrm>
            <a:off x="611560" y="3331594"/>
            <a:ext cx="19169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Exemple pour </a:t>
            </a:r>
            <a:r>
              <a:rPr lang="fr-FR" sz="1600" i="1" dirty="0" smtClean="0"/>
              <a:t>N</a:t>
            </a:r>
            <a:r>
              <a:rPr lang="fr-FR" sz="1600" dirty="0" smtClean="0"/>
              <a:t> = 16</a:t>
            </a:r>
            <a:endParaRPr lang="fr-FR" sz="1600" i="1" dirty="0"/>
          </a:p>
        </p:txBody>
      </p:sp>
    </p:spTree>
    <p:extLst>
      <p:ext uri="{BB962C8B-B14F-4D97-AF65-F5344CB8AC3E}">
        <p14:creationId xmlns:p14="http://schemas.microsoft.com/office/powerpoint/2010/main" val="9899248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42</Words>
  <Application>Microsoft Office PowerPoint</Application>
  <PresentationFormat>Affichage à l'écran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3" baseType="lpstr">
      <vt:lpstr>Thème Office</vt:lpstr>
      <vt:lpstr>MathType 6.0 Equation</vt:lpstr>
      <vt:lpstr>Présentation PowerPoint</vt:lpstr>
    </vt:vector>
  </TitlesOfParts>
  <Company>Universite de Sherbrooke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Raymond Panneton</dc:creator>
  <cp:lastModifiedBy>Raymond Panneton</cp:lastModifiedBy>
  <cp:revision>3</cp:revision>
  <dcterms:created xsi:type="dcterms:W3CDTF">2013-11-12T17:12:43Z</dcterms:created>
  <dcterms:modified xsi:type="dcterms:W3CDTF">2013-11-12T17:38:00Z</dcterms:modified>
</cp:coreProperties>
</file>
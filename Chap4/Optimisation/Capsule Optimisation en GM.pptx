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57" r:id="rId5"/>
    <p:sldId id="270" r:id="rId6"/>
    <p:sldId id="258" r:id="rId7"/>
    <p:sldId id="275" r:id="rId8"/>
    <p:sldId id="276" r:id="rId9"/>
    <p:sldId id="277" r:id="rId10"/>
    <p:sldId id="265" r:id="rId11"/>
    <p:sldId id="278"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437108-D990-44E3-A9E4-C396DBFD6E5D}" v="1704" dt="2024-11-05T16:08:56.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83" d="100"/>
          <a:sy n="83" d="100"/>
        </p:scale>
        <p:origin x="25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FC2A10-A251-9449-3571-C745578C33B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09D016C-56B6-B733-503A-4D3D355EFE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DE6CD2E-4B50-82C9-6ECE-4937819B0D1F}"/>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5" name="Espace réservé du pied de page 4">
            <a:extLst>
              <a:ext uri="{FF2B5EF4-FFF2-40B4-BE49-F238E27FC236}">
                <a16:creationId xmlns:a16="http://schemas.microsoft.com/office/drawing/2014/main" id="{ECB6F07C-81DF-33DD-95DB-3D90D7AC69A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5EE96C0-FEB5-C0CE-6622-E36613B7DA2D}"/>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1683984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798AF-1D75-1269-D1B1-7ED55BD1D14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219D883-7D62-88C1-1B49-B2AD359658A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089BB1B-C69B-83CE-539C-2B6B3E15BC27}"/>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5" name="Espace réservé du pied de page 4">
            <a:extLst>
              <a:ext uri="{FF2B5EF4-FFF2-40B4-BE49-F238E27FC236}">
                <a16:creationId xmlns:a16="http://schemas.microsoft.com/office/drawing/2014/main" id="{4FDF8796-E484-A7A4-C633-D233AEE5E9F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3AB02FC-786F-38DA-54E7-EE6A4B9FE6A6}"/>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3268924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DA8504-9F58-AE86-5FBB-26D65A5F664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42E1DCE-8BB3-D44D-C896-E60AE29E1A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A04A1B8-D8D3-C7D0-D78E-962B9183D799}"/>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5" name="Espace réservé du pied de page 4">
            <a:extLst>
              <a:ext uri="{FF2B5EF4-FFF2-40B4-BE49-F238E27FC236}">
                <a16:creationId xmlns:a16="http://schemas.microsoft.com/office/drawing/2014/main" id="{B93FE27D-D5BA-9EC3-3FF3-DAEE1B64E1B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0C31A36-9C34-B15D-BD53-93248C6BA74B}"/>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416087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0A27F-BE9F-DFAA-1A7F-A10E1F60BA3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B617D0B-3C50-D74F-B86B-E056F118B02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18E40B9-77F5-B22C-7685-4C10EF00AE6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F9D1CA2-5407-1F47-C2CA-3C8CDEA4A22D}"/>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6" name="Espace réservé du pied de page 5">
            <a:extLst>
              <a:ext uri="{FF2B5EF4-FFF2-40B4-BE49-F238E27FC236}">
                <a16:creationId xmlns:a16="http://schemas.microsoft.com/office/drawing/2014/main" id="{132B4CE9-74CE-0E3C-B2F2-91DF83B31A2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A381FA6-E62B-CCAA-B565-A400317350E4}"/>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4144622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C70F94-DCC1-3430-63C3-294EBBA2C28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07AAD79-23B7-665A-B4F0-46794A92A5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82B9B49-65A4-3729-0769-D12E8108163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7CD81D6-B1EB-94E4-3F13-C645248B5D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D2DFE8B-5825-671D-0A15-5B8E058FDFB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0F92D10-C12A-AEF7-7578-7ACADF305CC4}"/>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8" name="Espace réservé du pied de page 7">
            <a:extLst>
              <a:ext uri="{FF2B5EF4-FFF2-40B4-BE49-F238E27FC236}">
                <a16:creationId xmlns:a16="http://schemas.microsoft.com/office/drawing/2014/main" id="{C0E5BF89-4FC3-F1F7-54BC-044A6A14C75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16774AB-F384-EB54-68F4-ED39FDFE3E50}"/>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2911247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32224E-5A26-289D-9C90-AC4E65741C7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1875C48-75DC-D28E-435D-ED1E14B0D2EA}"/>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4" name="Espace réservé du pied de page 3">
            <a:extLst>
              <a:ext uri="{FF2B5EF4-FFF2-40B4-BE49-F238E27FC236}">
                <a16:creationId xmlns:a16="http://schemas.microsoft.com/office/drawing/2014/main" id="{94D9FA51-E7DC-1BB1-14B3-8DAF46D9922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488555A-A181-5BBB-C35E-3954211B6763}"/>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4250992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34A1A86-4C7E-CE07-C76E-0BAC3BC2CF8F}"/>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3" name="Espace réservé du pied de page 2">
            <a:extLst>
              <a:ext uri="{FF2B5EF4-FFF2-40B4-BE49-F238E27FC236}">
                <a16:creationId xmlns:a16="http://schemas.microsoft.com/office/drawing/2014/main" id="{089426AB-F243-DC41-67AD-2641EA045E4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14AA4140-321F-C1D4-219F-910F99944DB5}"/>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3080935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E703AA-CBAB-1C5C-CAE6-EBF7E612BA4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79C56E1-C9C1-2922-8E79-E2F47B2F7D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2FE90D4-FC43-E940-69C5-BDA498048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6431748-B4D8-9FAE-01AA-7376A761E322}"/>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6" name="Espace réservé du pied de page 5">
            <a:extLst>
              <a:ext uri="{FF2B5EF4-FFF2-40B4-BE49-F238E27FC236}">
                <a16:creationId xmlns:a16="http://schemas.microsoft.com/office/drawing/2014/main" id="{F514427F-82BB-A9C7-FC45-04B1A7167CF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EDF2A69-A992-CA59-3F18-191CC66EA496}"/>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1265159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9DED4A-2A7C-D371-B240-ED2A8F5DB2E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13A244E-442C-5685-39F0-E9FF3CE82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20F9BBD-AD88-3F76-2789-3A7E5CC2AD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56117AB-1CC2-4B43-626B-F5FBD6AE41A3}"/>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6" name="Espace réservé du pied de page 5">
            <a:extLst>
              <a:ext uri="{FF2B5EF4-FFF2-40B4-BE49-F238E27FC236}">
                <a16:creationId xmlns:a16="http://schemas.microsoft.com/office/drawing/2014/main" id="{1A073E1C-B59A-8D37-610F-BA2CEA42783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0919509-C999-369D-45C2-9E4D9D9FABE6}"/>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491326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52364D-A737-8DF9-2AA3-B0D803CF9E2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A79487B-2AE0-35C8-154E-9626981531E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A8BE3FA-72BD-672B-BEAC-630C7BE9FD94}"/>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5" name="Espace réservé du pied de page 4">
            <a:extLst>
              <a:ext uri="{FF2B5EF4-FFF2-40B4-BE49-F238E27FC236}">
                <a16:creationId xmlns:a16="http://schemas.microsoft.com/office/drawing/2014/main" id="{DE14AC05-2E62-42CF-75EF-6E95207B2FD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D9231E7-2828-373D-0C98-52152D1C1638}"/>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132199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7C8F261-4B52-5C20-9176-981A36E06B0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FAC9C05-6F47-E838-0262-5BA5786637D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A649385-78C7-CF0C-2CA0-53E873302F6C}"/>
              </a:ext>
            </a:extLst>
          </p:cNvPr>
          <p:cNvSpPr>
            <a:spLocks noGrp="1"/>
          </p:cNvSpPr>
          <p:nvPr>
            <p:ph type="dt" sz="half" idx="10"/>
          </p:nvPr>
        </p:nvSpPr>
        <p:spPr/>
        <p:txBody>
          <a:bodyPr/>
          <a:lstStyle/>
          <a:p>
            <a:fld id="{DCD6E76D-A1C2-4093-942C-2F45B1FC505E}" type="datetimeFigureOut">
              <a:rPr lang="fr-FR" smtClean="0"/>
              <a:t>10/11/2025</a:t>
            </a:fld>
            <a:endParaRPr lang="fr-FR"/>
          </a:p>
        </p:txBody>
      </p:sp>
      <p:sp>
        <p:nvSpPr>
          <p:cNvPr id="5" name="Espace réservé du pied de page 4">
            <a:extLst>
              <a:ext uri="{FF2B5EF4-FFF2-40B4-BE49-F238E27FC236}">
                <a16:creationId xmlns:a16="http://schemas.microsoft.com/office/drawing/2014/main" id="{F26C3902-2683-4F5F-81F9-501305FACD4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599E34B-9944-7C29-95A7-108175F192EC}"/>
              </a:ext>
            </a:extLst>
          </p:cNvPr>
          <p:cNvSpPr>
            <a:spLocks noGrp="1"/>
          </p:cNvSpPr>
          <p:nvPr>
            <p:ph type="sldNum" sz="quarter" idx="12"/>
          </p:nvPr>
        </p:nvSpPr>
        <p:spPr/>
        <p:txBody>
          <a:bodyPr/>
          <a:lstStyle/>
          <a:p>
            <a:fld id="{DD201924-D8AC-43AE-A72B-0A3A51E96413}" type="slidenum">
              <a:rPr lang="fr-FR" smtClean="0"/>
              <a:t>‹N°›</a:t>
            </a:fld>
            <a:endParaRPr lang="fr-FR"/>
          </a:p>
        </p:txBody>
      </p:sp>
    </p:spTree>
    <p:extLst>
      <p:ext uri="{BB962C8B-B14F-4D97-AF65-F5344CB8AC3E}">
        <p14:creationId xmlns:p14="http://schemas.microsoft.com/office/powerpoint/2010/main" val="1636939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6B21D5F-82CB-D583-DE29-89401110E7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1E73D87-7482-0067-A396-507F60199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4499BF5-C2EA-F9D2-C116-6902F8EFF9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D6E76D-A1C2-4093-942C-2F45B1FC505E}" type="datetimeFigureOut">
              <a:rPr lang="fr-FR" smtClean="0"/>
              <a:t>10/11/2025</a:t>
            </a:fld>
            <a:endParaRPr lang="fr-FR"/>
          </a:p>
        </p:txBody>
      </p:sp>
      <p:sp>
        <p:nvSpPr>
          <p:cNvPr id="5" name="Espace réservé du pied de page 4">
            <a:extLst>
              <a:ext uri="{FF2B5EF4-FFF2-40B4-BE49-F238E27FC236}">
                <a16:creationId xmlns:a16="http://schemas.microsoft.com/office/drawing/2014/main" id="{15D8B0E6-96F7-7393-8C4B-2F3B629E3E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4A83307D-7761-A3C1-4BDE-31B5EED280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201924-D8AC-43AE-A72B-0A3A51E96413}" type="slidenum">
              <a:rPr lang="fr-FR" smtClean="0"/>
              <a:t>‹N°›</a:t>
            </a:fld>
            <a:endParaRPr lang="fr-FR"/>
          </a:p>
        </p:txBody>
      </p:sp>
    </p:spTree>
    <p:extLst>
      <p:ext uri="{BB962C8B-B14F-4D97-AF65-F5344CB8AC3E}">
        <p14:creationId xmlns:p14="http://schemas.microsoft.com/office/powerpoint/2010/main" val="1465486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hyperlink" Target="https://fr.wikipedia.org/wiki/Algorithme_du_gradient" TargetMode="External"/><Relationship Id="rId2" Type="http://schemas.openxmlformats.org/officeDocument/2006/relationships/hyperlink" Target="https://www.mathworks.com/help/optim/ug/fmincon.html" TargetMode="External"/><Relationship Id="rId1" Type="http://schemas.openxmlformats.org/officeDocument/2006/relationships/slideLayout" Target="../slideLayouts/slideLayout4.xml"/><Relationship Id="rId5" Type="http://schemas.openxmlformats.org/officeDocument/2006/relationships/hyperlink" Target="https://www.mathworks.com/help/gads/ga.html?searchHighlight=ga&amp;s_tid=srchtitle_support_results_1_ga" TargetMode="External"/><Relationship Id="rId4" Type="http://schemas.openxmlformats.org/officeDocument/2006/relationships/hyperlink" Target="https://fr.wikipedia.org/wiki/Algorithme_%C3%A9volutionniste"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slide" Target="slide11.xml"/><Relationship Id="rId1" Type="http://schemas.openxmlformats.org/officeDocument/2006/relationships/slideLayout" Target="../slideLayouts/slideLayout4.xml"/><Relationship Id="rId6" Type="http://schemas.openxmlformats.org/officeDocument/2006/relationships/slide" Target="slide1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doctoratdonut.com/discussion-et-conclusion-deux-differences-majeures-mais-meconnues/" TargetMode="External"/><Relationship Id="rId2" Type="http://schemas.openxmlformats.org/officeDocument/2006/relationships/hyperlink" Target="https://polyedre.uqam.ca/analyse-de-resultats-et-discussion.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15095C-441E-09EB-C547-CEE819844F3B}"/>
              </a:ext>
            </a:extLst>
          </p:cNvPr>
          <p:cNvSpPr>
            <a:spLocks noGrp="1"/>
          </p:cNvSpPr>
          <p:nvPr>
            <p:ph type="ctrTitle"/>
          </p:nvPr>
        </p:nvSpPr>
        <p:spPr/>
        <p:txBody>
          <a:bodyPr>
            <a:normAutofit fontScale="90000"/>
          </a:bodyPr>
          <a:lstStyle/>
          <a:p>
            <a:r>
              <a:rPr lang="fr-CA" dirty="0"/>
              <a:t>Section 4.4 - Introduction à l'optimisation en génie mécanique</a:t>
            </a:r>
            <a:endParaRPr lang="fr-FR" dirty="0"/>
          </a:p>
        </p:txBody>
      </p:sp>
      <p:sp>
        <p:nvSpPr>
          <p:cNvPr id="3" name="Sous-titre 2">
            <a:extLst>
              <a:ext uri="{FF2B5EF4-FFF2-40B4-BE49-F238E27FC236}">
                <a16:creationId xmlns:a16="http://schemas.microsoft.com/office/drawing/2014/main" id="{9ECC0F9B-9CAA-1489-F39C-FB884E410D75}"/>
              </a:ext>
            </a:extLst>
          </p:cNvPr>
          <p:cNvSpPr>
            <a:spLocks noGrp="1"/>
          </p:cNvSpPr>
          <p:nvPr>
            <p:ph type="subTitle" idx="1"/>
          </p:nvPr>
        </p:nvSpPr>
        <p:spPr/>
        <p:txBody>
          <a:bodyPr>
            <a:normAutofit lnSpcReduction="10000"/>
          </a:bodyPr>
          <a:lstStyle/>
          <a:p>
            <a:r>
              <a:rPr lang="fr-FR" dirty="0"/>
              <a:t>Pr Raymond Panneton</a:t>
            </a:r>
          </a:p>
          <a:p>
            <a:r>
              <a:rPr lang="fr-FR" dirty="0"/>
              <a:t>2025</a:t>
            </a:r>
          </a:p>
          <a:p>
            <a:endParaRPr lang="fr-FR" dirty="0"/>
          </a:p>
          <a:p>
            <a:r>
              <a:rPr lang="fr-FR" dirty="0"/>
              <a:t>ING250 – Exploitation de l’ordinateur I</a:t>
            </a:r>
          </a:p>
        </p:txBody>
      </p:sp>
    </p:spTree>
    <p:extLst>
      <p:ext uri="{BB962C8B-B14F-4D97-AF65-F5344CB8AC3E}">
        <p14:creationId xmlns:p14="http://schemas.microsoft.com/office/powerpoint/2010/main" val="1604815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FACD79-C236-CEC3-3C6A-E57FA2D28EC3}"/>
              </a:ext>
            </a:extLst>
          </p:cNvPr>
          <p:cNvSpPr>
            <a:spLocks noGrp="1"/>
          </p:cNvSpPr>
          <p:nvPr>
            <p:ph type="title"/>
          </p:nvPr>
        </p:nvSpPr>
        <p:spPr/>
        <p:txBody>
          <a:bodyPr/>
          <a:lstStyle/>
          <a:p>
            <a:r>
              <a:rPr lang="fr-FR" dirty="0"/>
              <a:t>Optimisation en génie mécanique (1/2)</a:t>
            </a:r>
          </a:p>
        </p:txBody>
      </p:sp>
      <p:sp>
        <p:nvSpPr>
          <p:cNvPr id="3" name="Espace réservé du contenu 2">
            <a:extLst>
              <a:ext uri="{FF2B5EF4-FFF2-40B4-BE49-F238E27FC236}">
                <a16:creationId xmlns:a16="http://schemas.microsoft.com/office/drawing/2014/main" id="{765E28F8-3008-E451-8033-2166A1EA0415}"/>
              </a:ext>
            </a:extLst>
          </p:cNvPr>
          <p:cNvSpPr>
            <a:spLocks noGrp="1"/>
          </p:cNvSpPr>
          <p:nvPr>
            <p:ph sz="half" idx="1"/>
          </p:nvPr>
        </p:nvSpPr>
        <p:spPr/>
        <p:txBody>
          <a:bodyPr>
            <a:normAutofit/>
          </a:bodyPr>
          <a:lstStyle/>
          <a:p>
            <a:r>
              <a:rPr lang="fr-CA" sz="1800" b="1" dirty="0"/>
              <a:t>Amélioration des performances :</a:t>
            </a:r>
            <a:r>
              <a:rPr lang="fr-CA" sz="1800" dirty="0"/>
              <a:t> L'optimisation en génie mécanique vise à maximiser l'efficacité et la performance des systèmes mécaniques, que ce soit en augmentant leur capacité ou en réduisant leur consommation d'énergie.</a:t>
            </a:r>
          </a:p>
          <a:p>
            <a:r>
              <a:rPr lang="fr-CA" sz="1800" b="1" dirty="0"/>
              <a:t>Conception sous contraintes :</a:t>
            </a:r>
            <a:r>
              <a:rPr lang="fr-CA" sz="1800" dirty="0"/>
              <a:t> Les ingénieurs optimisent les dimensions et matériaux tout en respectant des contraintes comme le poids, la résistance des matériaux, et les limitations de coût.</a:t>
            </a:r>
          </a:p>
          <a:p>
            <a:r>
              <a:rPr lang="fr-CA" sz="1800" b="1" dirty="0"/>
              <a:t>Optimisation des dimensions et des configurations : </a:t>
            </a:r>
            <a:r>
              <a:rPr lang="fr-CA" sz="1800" dirty="0"/>
              <a:t>L'ajustement précis des dimensions ou des arrangements dans un système mécanique permet d'obtenir des transferts de force optimaux.</a:t>
            </a:r>
          </a:p>
        </p:txBody>
      </p:sp>
      <p:sp>
        <p:nvSpPr>
          <p:cNvPr id="8" name="ZoneTexte 7">
            <a:extLst>
              <a:ext uri="{FF2B5EF4-FFF2-40B4-BE49-F238E27FC236}">
                <a16:creationId xmlns:a16="http://schemas.microsoft.com/office/drawing/2014/main" id="{A3FD817A-5928-BE82-3287-7A315F8673FB}"/>
              </a:ext>
            </a:extLst>
          </p:cNvPr>
          <p:cNvSpPr txBox="1"/>
          <p:nvPr/>
        </p:nvSpPr>
        <p:spPr>
          <a:xfrm>
            <a:off x="6515102" y="6118411"/>
            <a:ext cx="4336444" cy="215444"/>
          </a:xfrm>
          <a:prstGeom prst="rect">
            <a:avLst/>
          </a:prstGeom>
          <a:noFill/>
        </p:spPr>
        <p:txBody>
          <a:bodyPr wrap="none" rtlCol="0">
            <a:spAutoFit/>
          </a:bodyPr>
          <a:lstStyle/>
          <a:p>
            <a:r>
              <a:rPr lang="fr-FR" sz="800" dirty="0"/>
              <a:t>[Image conçu par DALL</a:t>
            </a:r>
            <a:r>
              <a:rPr lang="fr-FR" sz="800" dirty="0">
                <a:sym typeface="Symbol" panose="05050102010706020507" pitchFamily="18" charset="2"/>
              </a:rPr>
              <a:t>E (</a:t>
            </a:r>
            <a:r>
              <a:rPr lang="fr-FR" sz="800" dirty="0" err="1">
                <a:sym typeface="Symbol" panose="05050102010706020507" pitchFamily="18" charset="2"/>
              </a:rPr>
              <a:t>ChatGPT</a:t>
            </a:r>
            <a:r>
              <a:rPr lang="fr-FR" sz="800" dirty="0">
                <a:sym typeface="Symbol" panose="05050102010706020507" pitchFamily="18" charset="2"/>
              </a:rPr>
              <a:t>) sous les directives du Pr Raymond Panneton (2024-11-2)]</a:t>
            </a:r>
            <a:endParaRPr lang="fr-FR" sz="800" dirty="0"/>
          </a:p>
        </p:txBody>
      </p:sp>
      <p:pic>
        <p:nvPicPr>
          <p:cNvPr id="22" name="Espace réservé du contenu 21">
            <a:extLst>
              <a:ext uri="{FF2B5EF4-FFF2-40B4-BE49-F238E27FC236}">
                <a16:creationId xmlns:a16="http://schemas.microsoft.com/office/drawing/2014/main" id="{B59CD60A-ACC5-221E-F703-618E74B01952}"/>
              </a:ext>
            </a:extLst>
          </p:cNvPr>
          <p:cNvPicPr>
            <a:picLocks noGrp="1" noChangeAspect="1"/>
          </p:cNvPicPr>
          <p:nvPr>
            <p:ph sz="half" idx="2"/>
          </p:nvPr>
        </p:nvPicPr>
        <p:blipFill>
          <a:blip r:embed="rId2"/>
          <a:stretch>
            <a:fillRect/>
          </a:stretch>
        </p:blipFill>
        <p:spPr>
          <a:xfrm>
            <a:off x="6584284" y="1825625"/>
            <a:ext cx="4357432" cy="4351338"/>
          </a:xfrm>
          <a:prstGeom prst="rect">
            <a:avLst/>
          </a:prstGeom>
        </p:spPr>
      </p:pic>
    </p:spTree>
    <p:extLst>
      <p:ext uri="{BB962C8B-B14F-4D97-AF65-F5344CB8AC3E}">
        <p14:creationId xmlns:p14="http://schemas.microsoft.com/office/powerpoint/2010/main" val="3642534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FACD79-C236-CEC3-3C6A-E57FA2D28EC3}"/>
              </a:ext>
            </a:extLst>
          </p:cNvPr>
          <p:cNvSpPr>
            <a:spLocks noGrp="1"/>
          </p:cNvSpPr>
          <p:nvPr>
            <p:ph type="title"/>
          </p:nvPr>
        </p:nvSpPr>
        <p:spPr/>
        <p:txBody>
          <a:bodyPr/>
          <a:lstStyle/>
          <a:p>
            <a:r>
              <a:rPr lang="fr-FR" dirty="0"/>
              <a:t>Optimisation en génie mécanique (2/2)</a:t>
            </a:r>
          </a:p>
        </p:txBody>
      </p:sp>
      <p:sp>
        <p:nvSpPr>
          <p:cNvPr id="3" name="Espace réservé du contenu 2">
            <a:extLst>
              <a:ext uri="{FF2B5EF4-FFF2-40B4-BE49-F238E27FC236}">
                <a16:creationId xmlns:a16="http://schemas.microsoft.com/office/drawing/2014/main" id="{765E28F8-3008-E451-8033-2166A1EA0415}"/>
              </a:ext>
            </a:extLst>
          </p:cNvPr>
          <p:cNvSpPr>
            <a:spLocks noGrp="1"/>
          </p:cNvSpPr>
          <p:nvPr>
            <p:ph sz="half" idx="1"/>
          </p:nvPr>
        </p:nvSpPr>
        <p:spPr/>
        <p:txBody>
          <a:bodyPr>
            <a:normAutofit/>
          </a:bodyPr>
          <a:lstStyle/>
          <a:p>
            <a:r>
              <a:rPr lang="fr-CA" sz="1800" b="1" dirty="0"/>
              <a:t>Équilibre entre efficacité et durabilité :</a:t>
            </a:r>
            <a:r>
              <a:rPr lang="fr-CA" sz="1800" dirty="0"/>
              <a:t> Les choix de conception optimisés visent non seulement à maximiser les performances mais aussi à assurer la durabilité et la stabilité des systèmes.</a:t>
            </a:r>
          </a:p>
          <a:p>
            <a:r>
              <a:rPr lang="fr-CA" sz="1800" b="1" dirty="0"/>
              <a:t>Applications variées :</a:t>
            </a:r>
            <a:r>
              <a:rPr lang="fr-CA" sz="1800" dirty="0"/>
              <a:t> L’optimisation est utilisée dans des secteurs tels que l’automobile, l’aérospatial, et la robotique pour rendre les systèmes plus performants.</a:t>
            </a:r>
          </a:p>
          <a:p>
            <a:r>
              <a:rPr lang="fr-CA" sz="1800" b="1" dirty="0"/>
              <a:t>Utilisation de méthodes mathématiques et numériques : </a:t>
            </a:r>
            <a:r>
              <a:rPr lang="fr-CA" sz="1800" dirty="0"/>
              <a:t>Les techniques d'optimisation incluent des modèles mathématiques et des algorithmes avancés pour trouver les meilleures configurations possibles.</a:t>
            </a:r>
            <a:endParaRPr lang="fr-FR" sz="1800" dirty="0"/>
          </a:p>
        </p:txBody>
      </p:sp>
      <p:sp>
        <p:nvSpPr>
          <p:cNvPr id="8" name="ZoneTexte 7">
            <a:extLst>
              <a:ext uri="{FF2B5EF4-FFF2-40B4-BE49-F238E27FC236}">
                <a16:creationId xmlns:a16="http://schemas.microsoft.com/office/drawing/2014/main" id="{A3FD817A-5928-BE82-3287-7A315F8673FB}"/>
              </a:ext>
            </a:extLst>
          </p:cNvPr>
          <p:cNvSpPr txBox="1"/>
          <p:nvPr/>
        </p:nvSpPr>
        <p:spPr>
          <a:xfrm>
            <a:off x="6515102" y="6118411"/>
            <a:ext cx="4336444" cy="215444"/>
          </a:xfrm>
          <a:prstGeom prst="rect">
            <a:avLst/>
          </a:prstGeom>
          <a:noFill/>
        </p:spPr>
        <p:txBody>
          <a:bodyPr wrap="none" rtlCol="0">
            <a:spAutoFit/>
          </a:bodyPr>
          <a:lstStyle/>
          <a:p>
            <a:r>
              <a:rPr lang="fr-FR" sz="800" dirty="0"/>
              <a:t>[Image conçu par DALL</a:t>
            </a:r>
            <a:r>
              <a:rPr lang="fr-FR" sz="800" dirty="0">
                <a:sym typeface="Symbol" panose="05050102010706020507" pitchFamily="18" charset="2"/>
              </a:rPr>
              <a:t>E (</a:t>
            </a:r>
            <a:r>
              <a:rPr lang="fr-FR" sz="800" dirty="0" err="1">
                <a:sym typeface="Symbol" panose="05050102010706020507" pitchFamily="18" charset="2"/>
              </a:rPr>
              <a:t>ChatGPT</a:t>
            </a:r>
            <a:r>
              <a:rPr lang="fr-FR" sz="800" dirty="0">
                <a:sym typeface="Symbol" panose="05050102010706020507" pitchFamily="18" charset="2"/>
              </a:rPr>
              <a:t>) sous les directives du Pr Raymond Panneton (2024-11-2)]</a:t>
            </a:r>
            <a:endParaRPr lang="fr-FR" sz="800" dirty="0"/>
          </a:p>
        </p:txBody>
      </p:sp>
      <p:pic>
        <p:nvPicPr>
          <p:cNvPr id="9" name="Espace réservé du contenu 8">
            <a:extLst>
              <a:ext uri="{FF2B5EF4-FFF2-40B4-BE49-F238E27FC236}">
                <a16:creationId xmlns:a16="http://schemas.microsoft.com/office/drawing/2014/main" id="{01D7CBA3-0387-CB44-8189-7D72A0CCC8E6}"/>
              </a:ext>
            </a:extLst>
          </p:cNvPr>
          <p:cNvPicPr>
            <a:picLocks noGrp="1" noChangeAspect="1"/>
          </p:cNvPicPr>
          <p:nvPr>
            <p:ph sz="half" idx="2"/>
          </p:nvPr>
        </p:nvPicPr>
        <p:blipFill>
          <a:blip r:embed="rId2"/>
          <a:stretch>
            <a:fillRect/>
          </a:stretch>
        </p:blipFill>
        <p:spPr>
          <a:xfrm>
            <a:off x="6510953" y="1825625"/>
            <a:ext cx="4504093" cy="4351338"/>
          </a:xfrm>
          <a:prstGeom prst="rect">
            <a:avLst/>
          </a:prstGeom>
        </p:spPr>
      </p:pic>
    </p:spTree>
    <p:extLst>
      <p:ext uri="{BB962C8B-B14F-4D97-AF65-F5344CB8AC3E}">
        <p14:creationId xmlns:p14="http://schemas.microsoft.com/office/powerpoint/2010/main" val="19706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3BF50E-D2D8-D10B-BD22-50A665C4F278}"/>
              </a:ext>
            </a:extLst>
          </p:cNvPr>
          <p:cNvSpPr>
            <a:spLocks noGrp="1"/>
          </p:cNvSpPr>
          <p:nvPr>
            <p:ph type="title"/>
          </p:nvPr>
        </p:nvSpPr>
        <p:spPr/>
        <p:txBody>
          <a:bodyPr vert="horz" lIns="91440" tIns="45720" rIns="91440" bIns="45720" rtlCol="0" anchor="ctr">
            <a:normAutofit/>
          </a:bodyPr>
          <a:lstStyle/>
          <a:p>
            <a:r>
              <a:rPr lang="fr-CA" dirty="0"/>
              <a:t>Objectif de l’optimisation (</a:t>
            </a:r>
            <a:r>
              <a:rPr lang="fr-CA"/>
              <a:t>1/2)</a:t>
            </a:r>
            <a:endParaRPr lang="fr-FR" dirty="0"/>
          </a:p>
        </p:txBody>
      </p:sp>
      <p:sp>
        <p:nvSpPr>
          <p:cNvPr id="3" name="Espace réservé du contenu 2">
            <a:extLst>
              <a:ext uri="{FF2B5EF4-FFF2-40B4-BE49-F238E27FC236}">
                <a16:creationId xmlns:a16="http://schemas.microsoft.com/office/drawing/2014/main" id="{5C77D48B-CD8F-6DD9-24A2-C119A626E4D6}"/>
              </a:ext>
            </a:extLst>
          </p:cNvPr>
          <p:cNvSpPr>
            <a:spLocks noGrp="1"/>
          </p:cNvSpPr>
          <p:nvPr>
            <p:ph sz="half" idx="1"/>
          </p:nvPr>
        </p:nvSpPr>
        <p:spPr>
          <a:xfrm>
            <a:off x="838200" y="1825624"/>
            <a:ext cx="5455024" cy="4911351"/>
          </a:xfrm>
        </p:spPr>
        <p:txBody>
          <a:bodyPr>
            <a:noAutofit/>
          </a:bodyPr>
          <a:lstStyle/>
          <a:p>
            <a:r>
              <a:rPr lang="fr-CA" sz="1800" b="1" dirty="0"/>
              <a:t>Maximisation de la fonction de transfert : </a:t>
            </a:r>
            <a:r>
              <a:rPr lang="fr-CA" sz="1800" dirty="0"/>
              <a:t>Dans le contexte de l'optimisation des dimensions d'un système en équilibre statique, cela signifie ajuster les paramètres du système pour maximiser la relation entre l'effort sortant (output) et l'effort entrant (input). L’objectif est d’obtenir une transmission d’énergie optimale.</a:t>
            </a:r>
          </a:p>
          <a:p>
            <a:r>
              <a:rPr lang="fr-CA" sz="1800" b="1" dirty="0"/>
              <a:t>Amélioration de l'efficacité :</a:t>
            </a:r>
            <a:r>
              <a:rPr lang="fr-CA" sz="1800" dirty="0"/>
              <a:t> Optimiser un système mécanique, c'est aussi minimiser les pertes d'énergie dans le système, par exemple, en réduisant la friction ou en utilisant des matériaux plus performants, pour que le maximum de la force appliquée soit transféré efficacement.</a:t>
            </a:r>
          </a:p>
          <a:p>
            <a:r>
              <a:rPr lang="fr-CA" sz="1800" b="1" dirty="0"/>
              <a:t>Réduction de la consommation des ressources : </a:t>
            </a:r>
            <a:r>
              <a:rPr lang="fr-CA" sz="1800" dirty="0"/>
              <a:t>L’optimisation permet de concevoir des systèmes qui répondent aux exigences de performance tout en utilisant moins de matériaux ou en réduisant la consommation d’énergie, rendant le système plus économique et souvent plus durable.</a:t>
            </a:r>
          </a:p>
        </p:txBody>
      </p:sp>
      <p:pic>
        <p:nvPicPr>
          <p:cNvPr id="3074" name="Picture 2" descr="Tutorial for Optimization Toolbox - MATLAB &amp; Simulink - MathWorks Italia">
            <a:extLst>
              <a:ext uri="{FF2B5EF4-FFF2-40B4-BE49-F238E27FC236}">
                <a16:creationId xmlns:a16="http://schemas.microsoft.com/office/drawing/2014/main" id="{D08D769E-FD32-47C8-F3F8-6C52EF7A73B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28547" y="2058194"/>
            <a:ext cx="5181600" cy="388620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14F91189-F0AE-3338-EE96-BAFC784D6BFB}"/>
              </a:ext>
            </a:extLst>
          </p:cNvPr>
          <p:cNvSpPr txBox="1"/>
          <p:nvPr/>
        </p:nvSpPr>
        <p:spPr>
          <a:xfrm rot="1635237">
            <a:off x="7417398" y="5335339"/>
            <a:ext cx="1390425" cy="307777"/>
          </a:xfrm>
          <a:prstGeom prst="rect">
            <a:avLst/>
          </a:prstGeom>
          <a:noFill/>
        </p:spPr>
        <p:txBody>
          <a:bodyPr wrap="square" rtlCol="0">
            <a:spAutoFit/>
          </a:bodyPr>
          <a:lstStyle/>
          <a:p>
            <a:r>
              <a:rPr lang="fr-FR" sz="1400" dirty="0">
                <a:solidFill>
                  <a:schemeClr val="tx1">
                    <a:lumMod val="65000"/>
                    <a:lumOff val="35000"/>
                  </a:schemeClr>
                </a:solidFill>
                <a:latin typeface="Comic Sans MS" panose="030F0702030302020204" pitchFamily="66" charset="0"/>
              </a:rPr>
              <a:t>Paramètre 1</a:t>
            </a:r>
          </a:p>
        </p:txBody>
      </p:sp>
      <p:sp>
        <p:nvSpPr>
          <p:cNvPr id="6" name="ZoneTexte 5">
            <a:extLst>
              <a:ext uri="{FF2B5EF4-FFF2-40B4-BE49-F238E27FC236}">
                <a16:creationId xmlns:a16="http://schemas.microsoft.com/office/drawing/2014/main" id="{E100FA30-3EF3-D24D-4386-4E3C0414D090}"/>
              </a:ext>
            </a:extLst>
          </p:cNvPr>
          <p:cNvSpPr txBox="1"/>
          <p:nvPr/>
        </p:nvSpPr>
        <p:spPr>
          <a:xfrm rot="20663928">
            <a:off x="9761685" y="5335338"/>
            <a:ext cx="1390425" cy="307777"/>
          </a:xfrm>
          <a:prstGeom prst="rect">
            <a:avLst/>
          </a:prstGeom>
          <a:noFill/>
        </p:spPr>
        <p:txBody>
          <a:bodyPr wrap="square" rtlCol="0">
            <a:spAutoFit/>
          </a:bodyPr>
          <a:lstStyle/>
          <a:p>
            <a:r>
              <a:rPr lang="fr-FR" sz="1400" dirty="0">
                <a:solidFill>
                  <a:schemeClr val="tx1">
                    <a:lumMod val="65000"/>
                    <a:lumOff val="35000"/>
                  </a:schemeClr>
                </a:solidFill>
                <a:latin typeface="Comic Sans MS" panose="030F0702030302020204" pitchFamily="66" charset="0"/>
              </a:rPr>
              <a:t>Paramètre 2</a:t>
            </a:r>
          </a:p>
        </p:txBody>
      </p:sp>
      <p:sp>
        <p:nvSpPr>
          <p:cNvPr id="8" name="ZoneTexte 7">
            <a:extLst>
              <a:ext uri="{FF2B5EF4-FFF2-40B4-BE49-F238E27FC236}">
                <a16:creationId xmlns:a16="http://schemas.microsoft.com/office/drawing/2014/main" id="{EB7308EC-B655-0687-7C17-3D58D66E320D}"/>
              </a:ext>
            </a:extLst>
          </p:cNvPr>
          <p:cNvSpPr txBox="1"/>
          <p:nvPr/>
        </p:nvSpPr>
        <p:spPr>
          <a:xfrm rot="16200000">
            <a:off x="5601205" y="3568769"/>
            <a:ext cx="2061464" cy="523220"/>
          </a:xfrm>
          <a:prstGeom prst="rect">
            <a:avLst/>
          </a:prstGeom>
          <a:noFill/>
        </p:spPr>
        <p:txBody>
          <a:bodyPr wrap="square" rtlCol="0">
            <a:spAutoFit/>
          </a:bodyPr>
          <a:lstStyle/>
          <a:p>
            <a:pPr algn="ctr"/>
            <a:r>
              <a:rPr lang="fr-FR" sz="1400" dirty="0">
                <a:solidFill>
                  <a:schemeClr val="tx1">
                    <a:lumMod val="65000"/>
                    <a:lumOff val="35000"/>
                  </a:schemeClr>
                </a:solidFill>
                <a:latin typeface="Comic Sans MS" panose="030F0702030302020204" pitchFamily="66" charset="0"/>
              </a:rPr>
              <a:t>Fonction à maximiser ou minimiser</a:t>
            </a:r>
          </a:p>
        </p:txBody>
      </p:sp>
    </p:spTree>
    <p:extLst>
      <p:ext uri="{BB962C8B-B14F-4D97-AF65-F5344CB8AC3E}">
        <p14:creationId xmlns:p14="http://schemas.microsoft.com/office/powerpoint/2010/main" val="2314145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3BF50E-D2D8-D10B-BD22-50A665C4F278}"/>
              </a:ext>
            </a:extLst>
          </p:cNvPr>
          <p:cNvSpPr>
            <a:spLocks noGrp="1"/>
          </p:cNvSpPr>
          <p:nvPr>
            <p:ph type="title"/>
          </p:nvPr>
        </p:nvSpPr>
        <p:spPr/>
        <p:txBody>
          <a:bodyPr/>
          <a:lstStyle/>
          <a:p>
            <a:r>
              <a:rPr lang="fr-CA" dirty="0"/>
              <a:t>Objectif de l’optimisation (2/2)</a:t>
            </a:r>
            <a:endParaRPr lang="fr-FR" dirty="0"/>
          </a:p>
        </p:txBody>
      </p:sp>
      <p:sp>
        <p:nvSpPr>
          <p:cNvPr id="3" name="Espace réservé du contenu 2">
            <a:extLst>
              <a:ext uri="{FF2B5EF4-FFF2-40B4-BE49-F238E27FC236}">
                <a16:creationId xmlns:a16="http://schemas.microsoft.com/office/drawing/2014/main" id="{5C77D48B-CD8F-6DD9-24A2-C119A626E4D6}"/>
              </a:ext>
            </a:extLst>
          </p:cNvPr>
          <p:cNvSpPr>
            <a:spLocks noGrp="1"/>
          </p:cNvSpPr>
          <p:nvPr>
            <p:ph sz="half" idx="1"/>
          </p:nvPr>
        </p:nvSpPr>
        <p:spPr/>
        <p:txBody>
          <a:bodyPr>
            <a:noAutofit/>
          </a:bodyPr>
          <a:lstStyle/>
          <a:p>
            <a:r>
              <a:rPr lang="fr-CA" sz="1800" b="1" dirty="0"/>
              <a:t>Assurance de la fiabilité et de la stabilité :</a:t>
            </a:r>
            <a:r>
              <a:rPr lang="fr-CA" sz="1800" dirty="0"/>
              <a:t> L'optimisation des dimensions et des composants améliore non seulement la performance immédiate, mais assure également la longévité et la sécurité du système en réduisant les points de défaillance potentiels.</a:t>
            </a:r>
          </a:p>
          <a:p>
            <a:r>
              <a:rPr lang="fr-CA" sz="1800" b="1" dirty="0"/>
              <a:t>Adaptation aux contraintes : </a:t>
            </a:r>
            <a:r>
              <a:rPr lang="fr-CA" sz="1800" dirty="0"/>
              <a:t>Dans de nombreux cas, un système doit être optimisé pour fonctionner dans des contraintes spécifiques, comme des limites de poids, de taille, ou de coût, tout en maximisant la performance.</a:t>
            </a:r>
          </a:p>
          <a:p>
            <a:pPr marL="0" indent="0">
              <a:spcBef>
                <a:spcPts val="0"/>
              </a:spcBef>
              <a:buNone/>
            </a:pPr>
            <a:endParaRPr lang="fr-CA" sz="1800" dirty="0">
              <a:latin typeface="Comic Sans MS" panose="030F0702030302020204" pitchFamily="66" charset="0"/>
            </a:endParaRPr>
          </a:p>
        </p:txBody>
      </p:sp>
      <p:sp>
        <p:nvSpPr>
          <p:cNvPr id="4" name="Espace réservé du contenu 3">
            <a:extLst>
              <a:ext uri="{FF2B5EF4-FFF2-40B4-BE49-F238E27FC236}">
                <a16:creationId xmlns:a16="http://schemas.microsoft.com/office/drawing/2014/main" id="{B5F81F31-B720-8FC4-2DAA-0E46485D8D9B}"/>
              </a:ext>
            </a:extLst>
          </p:cNvPr>
          <p:cNvSpPr>
            <a:spLocks noGrp="1"/>
          </p:cNvSpPr>
          <p:nvPr>
            <p:ph sz="half" idx="2"/>
          </p:nvPr>
        </p:nvSpPr>
        <p:spPr/>
        <p:txBody>
          <a:bodyPr>
            <a:normAutofit/>
          </a:bodyPr>
          <a:lstStyle/>
          <a:p>
            <a:pPr marL="0" indent="0" algn="ctr">
              <a:buNone/>
            </a:pPr>
            <a:endParaRPr lang="fr-CA" sz="2400" dirty="0">
              <a:latin typeface="Comic Sans MS" panose="030F0702030302020204" pitchFamily="66" charset="0"/>
            </a:endParaRPr>
          </a:p>
          <a:p>
            <a:pPr marL="0" indent="0" algn="ctr">
              <a:buNone/>
            </a:pPr>
            <a:r>
              <a:rPr lang="fr-CA" sz="2400" dirty="0">
                <a:solidFill>
                  <a:srgbClr val="0000CC"/>
                </a:solidFill>
                <a:latin typeface="Comic Sans MS" panose="030F0702030302020204" pitchFamily="66" charset="0"/>
              </a:rPr>
              <a:t>Ainsi, l’optimisation en génie mécanique est une démarche qui va au-delà de la simple amélioration des capacités : elle vise à atteindre le meilleur compromis possible entre performance, économie, et durabilité du système.</a:t>
            </a:r>
            <a:endParaRPr lang="fr-FR" sz="2800" dirty="0">
              <a:solidFill>
                <a:srgbClr val="0000CC"/>
              </a:solidFill>
              <a:latin typeface="Comic Sans MS" panose="030F0702030302020204" pitchFamily="66" charset="0"/>
            </a:endParaRPr>
          </a:p>
          <a:p>
            <a:endParaRPr lang="fr-FR" dirty="0"/>
          </a:p>
        </p:txBody>
      </p:sp>
    </p:spTree>
    <p:extLst>
      <p:ext uri="{BB962C8B-B14F-4D97-AF65-F5344CB8AC3E}">
        <p14:creationId xmlns:p14="http://schemas.microsoft.com/office/powerpoint/2010/main" val="2756901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58A2F2-DA52-C578-BAFA-9685E32A20E1}"/>
              </a:ext>
            </a:extLst>
          </p:cNvPr>
          <p:cNvSpPr>
            <a:spLocks noGrp="1"/>
          </p:cNvSpPr>
          <p:nvPr>
            <p:ph type="title"/>
          </p:nvPr>
        </p:nvSpPr>
        <p:spPr/>
        <p:txBody>
          <a:bodyPr/>
          <a:lstStyle/>
          <a:p>
            <a:r>
              <a:rPr lang="fr-CA" dirty="0"/>
              <a:t>Méthodologie d’optimisation (1/4)</a:t>
            </a:r>
            <a:endParaRPr lang="fr-FR" dirty="0"/>
          </a:p>
        </p:txBody>
      </p:sp>
      <p:sp>
        <p:nvSpPr>
          <p:cNvPr id="3" name="Espace réservé du contenu 2">
            <a:extLst>
              <a:ext uri="{FF2B5EF4-FFF2-40B4-BE49-F238E27FC236}">
                <a16:creationId xmlns:a16="http://schemas.microsoft.com/office/drawing/2014/main" id="{567C808A-92F8-206A-AD48-39A407FEA1AC}"/>
              </a:ext>
            </a:extLst>
          </p:cNvPr>
          <p:cNvSpPr>
            <a:spLocks noGrp="1"/>
          </p:cNvSpPr>
          <p:nvPr>
            <p:ph sz="half" idx="1"/>
          </p:nvPr>
        </p:nvSpPr>
        <p:spPr/>
        <p:txBody>
          <a:bodyPr>
            <a:normAutofit lnSpcReduction="10000"/>
          </a:bodyPr>
          <a:lstStyle/>
          <a:p>
            <a:pPr marL="514350" indent="-514350">
              <a:buFont typeface="+mj-lt"/>
              <a:buAutoNum type="arabicPeriod"/>
            </a:pPr>
            <a:r>
              <a:rPr lang="fr-CA" sz="1800" b="1" dirty="0"/>
              <a:t>Définir le problème</a:t>
            </a:r>
          </a:p>
          <a:p>
            <a:pPr lvl="1"/>
            <a:r>
              <a:rPr lang="fr-CA" sz="1800" dirty="0"/>
              <a:t>Identifier les objectifs de l’optimisation </a:t>
            </a:r>
            <a:br>
              <a:rPr lang="fr-CA" sz="1800" dirty="0"/>
            </a:br>
            <a:r>
              <a:rPr lang="fr-CA" sz="1800" dirty="0"/>
              <a:t>(ex.:  maximiser le transfert de force).</a:t>
            </a:r>
          </a:p>
          <a:p>
            <a:pPr lvl="1"/>
            <a:r>
              <a:rPr lang="fr-CA" sz="1800" dirty="0"/>
              <a:t>Définir les contraintes du système (limites de dimensions, matériaux, etc.).</a:t>
            </a:r>
          </a:p>
          <a:p>
            <a:pPr lvl="1"/>
            <a:r>
              <a:rPr lang="fr-CA" sz="1800" dirty="0"/>
              <a:t>Définir les paramètres fixes</a:t>
            </a:r>
          </a:p>
          <a:p>
            <a:pPr lvl="1"/>
            <a:r>
              <a:rPr lang="fr-CA" sz="1800" dirty="0"/>
              <a:t>Formuler le problème en termes mathématiques.</a:t>
            </a:r>
          </a:p>
          <a:p>
            <a:endParaRPr lang="fr-FR" sz="2000" dirty="0"/>
          </a:p>
        </p:txBody>
      </p:sp>
      <p:sp>
        <p:nvSpPr>
          <p:cNvPr id="5" name="Triangle isocèle 4">
            <a:extLst>
              <a:ext uri="{FF2B5EF4-FFF2-40B4-BE49-F238E27FC236}">
                <a16:creationId xmlns:a16="http://schemas.microsoft.com/office/drawing/2014/main" id="{93C5D546-D414-D0C0-1915-E75E4CB280EE}"/>
              </a:ext>
            </a:extLst>
          </p:cNvPr>
          <p:cNvSpPr/>
          <p:nvPr/>
        </p:nvSpPr>
        <p:spPr>
          <a:xfrm>
            <a:off x="2910113" y="5176598"/>
            <a:ext cx="427040" cy="369332"/>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8C508D1B-0C03-7972-81EC-ECCA9EA31136}"/>
              </a:ext>
            </a:extLst>
          </p:cNvPr>
          <p:cNvSpPr/>
          <p:nvPr/>
        </p:nvSpPr>
        <p:spPr>
          <a:xfrm>
            <a:off x="1603338" y="5126672"/>
            <a:ext cx="2735580" cy="6858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11" name="Espace réservé du contenu 10">
                <a:extLst>
                  <a:ext uri="{FF2B5EF4-FFF2-40B4-BE49-F238E27FC236}">
                    <a16:creationId xmlns:a16="http://schemas.microsoft.com/office/drawing/2014/main" id="{98A20EAB-B84F-AD88-1403-9AF27C106FD9}"/>
                  </a:ext>
                </a:extLst>
              </p:cNvPr>
              <p:cNvSpPr>
                <a:spLocks noGrp="1"/>
              </p:cNvSpPr>
              <p:nvPr>
                <p:ph sz="half" idx="2"/>
              </p:nvPr>
            </p:nvSpPr>
            <p:spPr>
              <a:xfrm>
                <a:off x="6172199" y="1825625"/>
                <a:ext cx="5883089" cy="4351338"/>
              </a:xfrm>
            </p:spPr>
            <p:txBody>
              <a:bodyPr>
                <a:normAutofit lnSpcReduction="10000"/>
              </a:bodyPr>
              <a:lstStyle/>
              <a:p>
                <a:r>
                  <a:rPr lang="fr-FR" sz="1800" dirty="0"/>
                  <a:t>Optimiser l’angle </a:t>
                </a:r>
                <a14:m>
                  <m:oMath xmlns:m="http://schemas.openxmlformats.org/officeDocument/2006/math">
                    <m:r>
                      <a:rPr lang="fr-CA" sz="1800" b="0" i="1" smtClean="0">
                        <a:latin typeface="Cambria Math" panose="02040503050406030204" pitchFamily="18" charset="0"/>
                      </a:rPr>
                      <m:t>𝜃</m:t>
                    </m:r>
                  </m:oMath>
                </a14:m>
                <a:r>
                  <a:rPr lang="fr-FR" sz="1800" dirty="0"/>
                  <a:t> pour maximiser la fonction de transfert </a:t>
                </a:r>
                <a14:m>
                  <m:oMath xmlns:m="http://schemas.openxmlformats.org/officeDocument/2006/math">
                    <m:r>
                      <a:rPr lang="fr-CA" sz="1800" i="1">
                        <a:latin typeface="Cambria Math" panose="02040503050406030204" pitchFamily="18" charset="0"/>
                      </a:rPr>
                      <m:t>𝐻</m:t>
                    </m:r>
                    <m:d>
                      <m:dPr>
                        <m:ctrlPr>
                          <a:rPr lang="fr-CA" sz="1800" b="0" i="1" smtClean="0">
                            <a:latin typeface="Cambria Math" panose="02040503050406030204" pitchFamily="18" charset="0"/>
                          </a:rPr>
                        </m:ctrlPr>
                      </m:dPr>
                      <m:e>
                        <m:r>
                          <a:rPr lang="fr-CA" sz="1800" b="0" i="1" smtClean="0">
                            <a:latin typeface="Cambria Math" panose="02040503050406030204" pitchFamily="18" charset="0"/>
                          </a:rPr>
                          <m:t>𝜃</m:t>
                        </m:r>
                      </m:e>
                    </m:d>
                    <m:r>
                      <a:rPr lang="fr-CA" sz="1800" b="0" i="1" smtClean="0">
                        <a:latin typeface="Cambria Math" panose="02040503050406030204" pitchFamily="18" charset="0"/>
                      </a:rPr>
                      <m:t>= </m:t>
                    </m:r>
                    <m:sSub>
                      <m:sSubPr>
                        <m:ctrlPr>
                          <a:rPr lang="fr-CA" sz="1800" b="0" i="1" smtClean="0">
                            <a:latin typeface="Cambria Math" panose="02040503050406030204" pitchFamily="18" charset="0"/>
                          </a:rPr>
                        </m:ctrlPr>
                      </m:sSubPr>
                      <m:e>
                        <m:r>
                          <a:rPr lang="fr-CA" sz="1800" b="0" i="1" smtClean="0">
                            <a:latin typeface="Cambria Math" panose="02040503050406030204" pitchFamily="18" charset="0"/>
                          </a:rPr>
                          <m:t>𝐹</m:t>
                        </m:r>
                      </m:e>
                      <m:sub>
                        <m:r>
                          <a:rPr lang="fr-CA" sz="1800" b="0" i="1" smtClean="0">
                            <a:latin typeface="Cambria Math" panose="02040503050406030204" pitchFamily="18" charset="0"/>
                          </a:rPr>
                          <m:t>𝑜𝑢𝑡</m:t>
                        </m:r>
                      </m:sub>
                    </m:sSub>
                    <m:r>
                      <a:rPr lang="fr-CA" sz="1800" b="0" i="1" smtClean="0">
                        <a:latin typeface="Cambria Math" panose="02040503050406030204" pitchFamily="18" charset="0"/>
                      </a:rPr>
                      <m:t>/</m:t>
                    </m:r>
                    <m:sSub>
                      <m:sSubPr>
                        <m:ctrlPr>
                          <a:rPr lang="fr-CA" sz="1800" b="0" i="1" smtClean="0">
                            <a:latin typeface="Cambria Math" panose="02040503050406030204" pitchFamily="18" charset="0"/>
                          </a:rPr>
                        </m:ctrlPr>
                      </m:sSubPr>
                      <m:e>
                        <m:r>
                          <a:rPr lang="fr-CA" sz="1800" b="0" i="1" smtClean="0">
                            <a:latin typeface="Cambria Math" panose="02040503050406030204" pitchFamily="18" charset="0"/>
                          </a:rPr>
                          <m:t>𝐹</m:t>
                        </m:r>
                      </m:e>
                      <m:sub>
                        <m:r>
                          <a:rPr lang="fr-CA" sz="1800" b="0" i="1" smtClean="0">
                            <a:latin typeface="Cambria Math" panose="02040503050406030204" pitchFamily="18" charset="0"/>
                          </a:rPr>
                          <m:t>𝑖𝑛</m:t>
                        </m:r>
                      </m:sub>
                    </m:sSub>
                  </m:oMath>
                </a14:m>
                <a:r>
                  <a:rPr lang="fr-FR" sz="1800" dirty="0"/>
                  <a:t> : </a:t>
                </a:r>
              </a:p>
              <a:p>
                <a:pPr lvl="1"/>
                <a14:m>
                  <m:oMath xmlns:m="http://schemas.openxmlformats.org/officeDocument/2006/math">
                    <m:func>
                      <m:funcPr>
                        <m:ctrlPr>
                          <a:rPr lang="fr-CA" sz="1800" b="0" i="1" smtClean="0">
                            <a:latin typeface="Cambria Math" panose="02040503050406030204" pitchFamily="18" charset="0"/>
                          </a:rPr>
                        </m:ctrlPr>
                      </m:funcPr>
                      <m:fName>
                        <m:sSub>
                          <m:sSubPr>
                            <m:ctrlPr>
                              <a:rPr lang="fr-CA" sz="1800" b="0" i="1" smtClean="0">
                                <a:latin typeface="Cambria Math" panose="02040503050406030204" pitchFamily="18" charset="0"/>
                              </a:rPr>
                            </m:ctrlPr>
                          </m:sSubPr>
                          <m:e>
                            <m:r>
                              <a:rPr lang="fr-CA" sz="1800" b="0" i="1" smtClean="0">
                                <a:latin typeface="Cambria Math" panose="02040503050406030204" pitchFamily="18" charset="0"/>
                              </a:rPr>
                              <m:t>𝜃</m:t>
                            </m:r>
                          </m:e>
                          <m:sub>
                            <m:r>
                              <a:rPr lang="fr-CA" sz="1800" b="0" i="1" smtClean="0">
                                <a:latin typeface="Cambria Math" panose="02040503050406030204" pitchFamily="18" charset="0"/>
                              </a:rPr>
                              <m:t>𝑜𝑝𝑡</m:t>
                            </m:r>
                          </m:sub>
                        </m:sSub>
                        <m:r>
                          <a:rPr lang="fr-CA" sz="1800" b="0" i="1" smtClean="0">
                            <a:latin typeface="Cambria Math" panose="02040503050406030204" pitchFamily="18" charset="0"/>
                          </a:rPr>
                          <m:t>=</m:t>
                        </m:r>
                        <m:r>
                          <m:rPr>
                            <m:sty m:val="p"/>
                          </m:rPr>
                          <a:rPr lang="fr-CA" sz="1800" b="0" i="0" smtClean="0">
                            <a:latin typeface="Cambria Math" panose="02040503050406030204" pitchFamily="18" charset="0"/>
                          </a:rPr>
                          <m:t>arg</m:t>
                        </m:r>
                      </m:fName>
                      <m:e>
                        <m:func>
                          <m:funcPr>
                            <m:ctrlPr>
                              <a:rPr lang="fr-CA" sz="1800" b="0" i="1" smtClean="0">
                                <a:latin typeface="Cambria Math" panose="02040503050406030204" pitchFamily="18" charset="0"/>
                              </a:rPr>
                            </m:ctrlPr>
                          </m:funcPr>
                          <m:fName>
                            <m:r>
                              <m:rPr>
                                <m:sty m:val="p"/>
                              </m:rPr>
                              <a:rPr lang="fr-CA" sz="1800" b="0" i="0" smtClean="0">
                                <a:latin typeface="Cambria Math" panose="02040503050406030204" pitchFamily="18" charset="0"/>
                              </a:rPr>
                              <m:t>max</m:t>
                            </m:r>
                          </m:fName>
                          <m:e>
                            <m:r>
                              <a:rPr lang="fr-CA" sz="1800" i="1">
                                <a:latin typeface="Cambria Math" panose="02040503050406030204" pitchFamily="18" charset="0"/>
                              </a:rPr>
                              <m:t>𝐻</m:t>
                            </m:r>
                            <m:r>
                              <a:rPr lang="fr-CA" sz="1800" i="1">
                                <a:latin typeface="Cambria Math" panose="02040503050406030204" pitchFamily="18" charset="0"/>
                              </a:rPr>
                              <m:t>(</m:t>
                            </m:r>
                            <m:r>
                              <a:rPr lang="fr-CA" sz="1800" i="1">
                                <a:latin typeface="Cambria Math" panose="02040503050406030204" pitchFamily="18" charset="0"/>
                              </a:rPr>
                              <m:t>𝜃</m:t>
                            </m:r>
                            <m:r>
                              <a:rPr lang="fr-CA" sz="1800" i="1">
                                <a:latin typeface="Cambria Math" panose="02040503050406030204" pitchFamily="18" charset="0"/>
                              </a:rPr>
                              <m:t>)</m:t>
                            </m:r>
                          </m:e>
                        </m:func>
                      </m:e>
                    </m:func>
                  </m:oMath>
                </a14:m>
                <a:r>
                  <a:rPr lang="fr-CA" sz="1800" dirty="0"/>
                  <a:t>   </a:t>
                </a:r>
                <a:r>
                  <a:rPr lang="fr-CA" sz="1800" dirty="0">
                    <a:sym typeface="Wingdings" panose="05000000000000000000" pitchFamily="2" charset="2"/>
                  </a:rPr>
                  <a:t> </a:t>
                </a:r>
                <a:r>
                  <a:rPr lang="fr-CA" sz="1800" dirty="0">
                    <a:solidFill>
                      <a:srgbClr val="0000CC"/>
                    </a:solidFill>
                    <a:sym typeface="Wingdings" panose="05000000000000000000" pitchFamily="2" charset="2"/>
                  </a:rPr>
                  <a:t>Fonction coût</a:t>
                </a:r>
                <a:endParaRPr lang="fr-CA" sz="1800" dirty="0">
                  <a:solidFill>
                    <a:srgbClr val="0000CC"/>
                  </a:solidFill>
                </a:endParaRPr>
              </a:p>
              <a:p>
                <a:pPr marL="0" indent="0">
                  <a:buNone/>
                </a:pPr>
                <a:endParaRPr lang="fr-CA" sz="2200" b="0" dirty="0"/>
              </a:p>
              <a:p>
                <a:r>
                  <a:rPr lang="fr-FR" sz="1800" dirty="0"/>
                  <a:t>Contrainte: </a:t>
                </a:r>
                <a14:m>
                  <m:oMath xmlns:m="http://schemas.openxmlformats.org/officeDocument/2006/math">
                    <m:r>
                      <a:rPr lang="fr-CA" sz="1800" i="1" smtClean="0">
                        <a:latin typeface="Cambria Math" panose="02040503050406030204" pitchFamily="18" charset="0"/>
                      </a:rPr>
                      <m:t>4</m:t>
                    </m:r>
                    <m:r>
                      <a:rPr lang="fr-CA" sz="1800" b="0" i="1" smtClean="0">
                        <a:latin typeface="Cambria Math" panose="02040503050406030204" pitchFamily="18" charset="0"/>
                      </a:rPr>
                      <m:t>0</m:t>
                    </m:r>
                    <m:r>
                      <a:rPr lang="fr-CA" sz="1800" b="0" i="1" smtClean="0">
                        <a:latin typeface="Cambria Math" panose="02040503050406030204" pitchFamily="18" charset="0"/>
                        <a:ea typeface="Cambria Math" panose="02040503050406030204" pitchFamily="18" charset="0"/>
                      </a:rPr>
                      <m:t>≤</m:t>
                    </m:r>
                    <m:r>
                      <a:rPr lang="fr-CA" sz="1800" b="0" i="1" smtClean="0">
                        <a:latin typeface="Cambria Math" panose="02040503050406030204" pitchFamily="18" charset="0"/>
                        <a:ea typeface="Cambria Math" panose="02040503050406030204" pitchFamily="18" charset="0"/>
                      </a:rPr>
                      <m:t>𝜃</m:t>
                    </m:r>
                    <m:r>
                      <a:rPr lang="fr-CA" sz="1800" b="0" i="1" smtClean="0">
                        <a:latin typeface="Cambria Math" panose="02040503050406030204" pitchFamily="18" charset="0"/>
                        <a:ea typeface="Cambria Math" panose="02040503050406030204" pitchFamily="18" charset="0"/>
                      </a:rPr>
                      <m:t>≤140</m:t>
                    </m:r>
                  </m:oMath>
                </a14:m>
                <a:endParaRPr lang="fr-CA" sz="1800" b="0" dirty="0">
                  <a:ea typeface="Cambria Math" panose="02040503050406030204" pitchFamily="18" charset="0"/>
                </a:endParaRPr>
              </a:p>
              <a:p>
                <a:endParaRPr lang="fr-CA" sz="1800" b="0" dirty="0">
                  <a:ea typeface="Cambria Math" panose="02040503050406030204" pitchFamily="18" charset="0"/>
                </a:endParaRPr>
              </a:p>
              <a:p>
                <a:r>
                  <a:rPr lang="fr-CA" sz="1800" b="0" dirty="0">
                    <a:ea typeface="Cambria Math" panose="02040503050406030204" pitchFamily="18" charset="0"/>
                  </a:rPr>
                  <a:t>Paramètres fixes: </a:t>
                </a:r>
                <a14:m>
                  <m:oMath xmlns:m="http://schemas.openxmlformats.org/officeDocument/2006/math">
                    <m:r>
                      <a:rPr lang="fr-CA" sz="1800" b="0" i="0" smtClean="0">
                        <a:latin typeface="Cambria Math" panose="02040503050406030204" pitchFamily="18" charset="0"/>
                        <a:ea typeface="Cambria Math" panose="02040503050406030204" pitchFamily="18" charset="0"/>
                      </a:rPr>
                      <m:t>    </m:t>
                    </m:r>
                    <m:sSub>
                      <m:sSubPr>
                        <m:ctrlPr>
                          <a:rPr lang="fr-CA" sz="1800" b="0" i="1" smtClean="0">
                            <a:latin typeface="Cambria Math" panose="02040503050406030204" pitchFamily="18" charset="0"/>
                            <a:ea typeface="Cambria Math" panose="02040503050406030204" pitchFamily="18" charset="0"/>
                          </a:rPr>
                        </m:ctrlPr>
                      </m:sSubPr>
                      <m:e>
                        <m:r>
                          <a:rPr lang="fr-CA" sz="1800" b="0" i="1" smtClean="0">
                            <a:latin typeface="Cambria Math" panose="02040503050406030204" pitchFamily="18" charset="0"/>
                            <a:ea typeface="Cambria Math" panose="02040503050406030204" pitchFamily="18" charset="0"/>
                          </a:rPr>
                          <m:t>𝑙</m:t>
                        </m:r>
                      </m:e>
                      <m:sub>
                        <m:r>
                          <a:rPr lang="fr-CA" sz="1800" b="0" i="1" smtClean="0">
                            <a:latin typeface="Cambria Math" panose="02040503050406030204" pitchFamily="18" charset="0"/>
                            <a:ea typeface="Cambria Math" panose="02040503050406030204" pitchFamily="18" charset="0"/>
                          </a:rPr>
                          <m:t>1</m:t>
                        </m:r>
                      </m:sub>
                    </m:sSub>
                    <m:r>
                      <a:rPr lang="fr-CA" sz="1800" b="0" i="1" smtClean="0">
                        <a:latin typeface="Cambria Math" panose="02040503050406030204" pitchFamily="18" charset="0"/>
                        <a:ea typeface="Cambria Math" panose="02040503050406030204" pitchFamily="18" charset="0"/>
                      </a:rPr>
                      <m:t>=1</m:t>
                    </m:r>
                  </m:oMath>
                </a14:m>
                <a:r>
                  <a:rPr lang="fr-CA" sz="1800" b="0" dirty="0">
                    <a:ea typeface="Cambria Math" panose="02040503050406030204" pitchFamily="18" charset="0"/>
                  </a:rPr>
                  <a:t> m    et     </a:t>
                </a:r>
                <a14:m>
                  <m:oMath xmlns:m="http://schemas.openxmlformats.org/officeDocument/2006/math">
                    <m:sSub>
                      <m:sSubPr>
                        <m:ctrlPr>
                          <a:rPr lang="fr-CA" sz="1800" i="1">
                            <a:latin typeface="Cambria Math" panose="02040503050406030204" pitchFamily="18" charset="0"/>
                            <a:ea typeface="Cambria Math" panose="02040503050406030204" pitchFamily="18" charset="0"/>
                          </a:rPr>
                        </m:ctrlPr>
                      </m:sSubPr>
                      <m:e>
                        <m:r>
                          <a:rPr lang="fr-CA" sz="1800" i="1">
                            <a:latin typeface="Cambria Math" panose="02040503050406030204" pitchFamily="18" charset="0"/>
                            <a:ea typeface="Cambria Math" panose="02040503050406030204" pitchFamily="18" charset="0"/>
                          </a:rPr>
                          <m:t>𝑙</m:t>
                        </m:r>
                      </m:e>
                      <m:sub>
                        <m:r>
                          <a:rPr lang="fr-CA" sz="1800" b="0" i="1" smtClean="0">
                            <a:latin typeface="Cambria Math" panose="02040503050406030204" pitchFamily="18" charset="0"/>
                            <a:ea typeface="Cambria Math" panose="02040503050406030204" pitchFamily="18" charset="0"/>
                          </a:rPr>
                          <m:t>2</m:t>
                        </m:r>
                      </m:sub>
                    </m:sSub>
                    <m:r>
                      <a:rPr lang="fr-CA" sz="1800" i="1">
                        <a:latin typeface="Cambria Math" panose="02040503050406030204" pitchFamily="18" charset="0"/>
                        <a:ea typeface="Cambria Math" panose="02040503050406030204" pitchFamily="18" charset="0"/>
                      </a:rPr>
                      <m:t>=</m:t>
                    </m:r>
                    <m:r>
                      <a:rPr lang="fr-CA" sz="1800" b="0" i="1" smtClean="0">
                        <a:latin typeface="Cambria Math" panose="02040503050406030204" pitchFamily="18" charset="0"/>
                        <a:ea typeface="Cambria Math" panose="02040503050406030204" pitchFamily="18" charset="0"/>
                      </a:rPr>
                      <m:t>2</m:t>
                    </m:r>
                  </m:oMath>
                </a14:m>
                <a:r>
                  <a:rPr lang="fr-CA" sz="1800" b="0" dirty="0">
                    <a:ea typeface="Cambria Math" panose="02040503050406030204" pitchFamily="18" charset="0"/>
                  </a:rPr>
                  <a:t> m</a:t>
                </a:r>
              </a:p>
              <a:p>
                <a:pPr marL="0" indent="0">
                  <a:buNone/>
                </a:pPr>
                <a:endParaRPr lang="fr-CA" sz="1800" b="0" dirty="0">
                  <a:ea typeface="Cambria Math" panose="02040503050406030204" pitchFamily="18" charset="0"/>
                </a:endParaRPr>
              </a:p>
              <a:p>
                <a:r>
                  <a:rPr lang="fr-FR" sz="1800" dirty="0"/>
                  <a:t>Modèle mathématique: </a:t>
                </a:r>
              </a:p>
              <a:p>
                <a:pPr marL="0" indent="0" algn="ctr">
                  <a:buNone/>
                </a:pPr>
                <a14:m>
                  <m:oMathPara xmlns:m="http://schemas.openxmlformats.org/officeDocument/2006/math">
                    <m:oMathParaPr>
                      <m:jc m:val="centerGroup"/>
                    </m:oMathParaPr>
                    <m:oMath xmlns:m="http://schemas.openxmlformats.org/officeDocument/2006/math">
                      <m:nary>
                        <m:naryPr>
                          <m:chr m:val="∑"/>
                          <m:subHide m:val="on"/>
                          <m:supHide m:val="on"/>
                          <m:ctrlPr>
                            <a:rPr lang="fr-FR" sz="1800" i="1" smtClean="0">
                              <a:latin typeface="Cambria Math" panose="02040503050406030204" pitchFamily="18" charset="0"/>
                            </a:rPr>
                          </m:ctrlPr>
                        </m:naryPr>
                        <m:sub/>
                        <m:sup/>
                        <m:e>
                          <m:sSub>
                            <m:sSubPr>
                              <m:ctrlPr>
                                <a:rPr lang="fr-CA" sz="1800" b="0" i="1" smtClean="0">
                                  <a:latin typeface="Cambria Math" panose="02040503050406030204" pitchFamily="18" charset="0"/>
                                </a:rPr>
                              </m:ctrlPr>
                            </m:sSubPr>
                            <m:e>
                              <m:r>
                                <a:rPr lang="fr-CA" sz="1800" b="0" i="1" smtClean="0">
                                  <a:latin typeface="Cambria Math" panose="02040503050406030204" pitchFamily="18" charset="0"/>
                                </a:rPr>
                                <m:t>𝑀</m:t>
                              </m:r>
                            </m:e>
                            <m:sub>
                              <m:r>
                                <m:rPr>
                                  <m:sty m:val="p"/>
                                </m:rPr>
                                <a:rPr lang="fr-CA" sz="1800" b="0" i="0" smtClean="0">
                                  <a:latin typeface="Cambria Math" panose="02040503050406030204" pitchFamily="18" charset="0"/>
                                </a:rPr>
                                <m:t>O</m:t>
                              </m:r>
                            </m:sub>
                          </m:sSub>
                          <m:r>
                            <a:rPr lang="fr-CA" sz="1800" b="0" i="1" smtClean="0">
                              <a:latin typeface="Cambria Math" panose="02040503050406030204" pitchFamily="18" charset="0"/>
                            </a:rPr>
                            <m:t>=0  </m:t>
                          </m:r>
                          <m:r>
                            <a:rPr lang="fr-CA" sz="1800" b="0" i="1" smtClean="0">
                              <a:latin typeface="Cambria Math" panose="02040503050406030204" pitchFamily="18" charset="0"/>
                              <a:ea typeface="Cambria Math" panose="02040503050406030204" pitchFamily="18" charset="0"/>
                            </a:rPr>
                            <m:t>→   </m:t>
                          </m:r>
                          <m:sSub>
                            <m:sSubPr>
                              <m:ctrlPr>
                                <a:rPr lang="fr-CA" sz="1800" b="0" i="1" smtClean="0">
                                  <a:latin typeface="Cambria Math" panose="02040503050406030204" pitchFamily="18" charset="0"/>
                                  <a:ea typeface="Cambria Math" panose="02040503050406030204" pitchFamily="18" charset="0"/>
                                </a:rPr>
                              </m:ctrlPr>
                            </m:sSubPr>
                            <m:e>
                              <m:r>
                                <a:rPr lang="fr-CA" sz="1800" b="0" i="1" smtClean="0">
                                  <a:latin typeface="Cambria Math" panose="02040503050406030204" pitchFamily="18" charset="0"/>
                                  <a:ea typeface="Cambria Math" panose="02040503050406030204" pitchFamily="18" charset="0"/>
                                </a:rPr>
                                <m:t>𝐹</m:t>
                              </m:r>
                            </m:e>
                            <m:sub>
                              <m:r>
                                <a:rPr lang="fr-CA" sz="1800" b="0" i="1" smtClean="0">
                                  <a:latin typeface="Cambria Math" panose="02040503050406030204" pitchFamily="18" charset="0"/>
                                  <a:ea typeface="Cambria Math" panose="02040503050406030204" pitchFamily="18" charset="0"/>
                                </a:rPr>
                                <m:t>𝑜𝑢𝑡</m:t>
                              </m:r>
                            </m:sub>
                          </m:sSub>
                          <m:sSub>
                            <m:sSubPr>
                              <m:ctrlPr>
                                <a:rPr lang="fr-CA" sz="1800" b="0" i="1" smtClean="0">
                                  <a:latin typeface="Cambria Math" panose="02040503050406030204" pitchFamily="18" charset="0"/>
                                  <a:ea typeface="Cambria Math" panose="02040503050406030204" pitchFamily="18" charset="0"/>
                                </a:rPr>
                              </m:ctrlPr>
                            </m:sSubPr>
                            <m:e>
                              <m:r>
                                <a:rPr lang="fr-CA" sz="1800" b="0" i="1" smtClean="0">
                                  <a:latin typeface="Cambria Math" panose="02040503050406030204" pitchFamily="18" charset="0"/>
                                  <a:ea typeface="Cambria Math" panose="02040503050406030204" pitchFamily="18" charset="0"/>
                                </a:rPr>
                                <m:t>𝑙</m:t>
                              </m:r>
                            </m:e>
                            <m:sub>
                              <m:r>
                                <a:rPr lang="fr-CA" sz="1800" b="0" i="1" smtClean="0">
                                  <a:latin typeface="Cambria Math" panose="02040503050406030204" pitchFamily="18" charset="0"/>
                                  <a:ea typeface="Cambria Math" panose="02040503050406030204" pitchFamily="18" charset="0"/>
                                </a:rPr>
                                <m:t>2</m:t>
                              </m:r>
                            </m:sub>
                          </m:sSub>
                          <m:r>
                            <a:rPr lang="fr-CA" sz="1800" b="0" i="1" smtClean="0">
                              <a:latin typeface="Cambria Math" panose="02040503050406030204" pitchFamily="18" charset="0"/>
                              <a:ea typeface="Cambria Math" panose="02040503050406030204" pitchFamily="18" charset="0"/>
                            </a:rPr>
                            <m:t>−</m:t>
                          </m:r>
                          <m:sSub>
                            <m:sSubPr>
                              <m:ctrlPr>
                                <a:rPr lang="fr-CA" sz="1800" b="0" i="1" smtClean="0">
                                  <a:latin typeface="Cambria Math" panose="02040503050406030204" pitchFamily="18" charset="0"/>
                                  <a:ea typeface="Cambria Math" panose="02040503050406030204" pitchFamily="18" charset="0"/>
                                </a:rPr>
                              </m:ctrlPr>
                            </m:sSubPr>
                            <m:e>
                              <m:r>
                                <a:rPr lang="fr-CA" sz="1800" b="0" i="1" smtClean="0">
                                  <a:latin typeface="Cambria Math" panose="02040503050406030204" pitchFamily="18" charset="0"/>
                                  <a:ea typeface="Cambria Math" panose="02040503050406030204" pitchFamily="18" charset="0"/>
                                </a:rPr>
                                <m:t>𝐹</m:t>
                              </m:r>
                            </m:e>
                            <m:sub>
                              <m:r>
                                <a:rPr lang="fr-CA" sz="1800" b="0" i="1" smtClean="0">
                                  <a:latin typeface="Cambria Math" panose="02040503050406030204" pitchFamily="18" charset="0"/>
                                  <a:ea typeface="Cambria Math" panose="02040503050406030204" pitchFamily="18" charset="0"/>
                                </a:rPr>
                                <m:t>𝑖𝑛</m:t>
                              </m:r>
                            </m:sub>
                          </m:sSub>
                          <m:sSub>
                            <m:sSubPr>
                              <m:ctrlPr>
                                <a:rPr lang="fr-CA" sz="1800" b="0" i="1" smtClean="0">
                                  <a:latin typeface="Cambria Math" panose="02040503050406030204" pitchFamily="18" charset="0"/>
                                  <a:ea typeface="Cambria Math" panose="02040503050406030204" pitchFamily="18" charset="0"/>
                                </a:rPr>
                              </m:ctrlPr>
                            </m:sSubPr>
                            <m:e>
                              <m:r>
                                <a:rPr lang="fr-CA" sz="1800" b="0" i="1" smtClean="0">
                                  <a:latin typeface="Cambria Math" panose="02040503050406030204" pitchFamily="18" charset="0"/>
                                  <a:ea typeface="Cambria Math" panose="02040503050406030204" pitchFamily="18" charset="0"/>
                                </a:rPr>
                                <m:t>𝑙</m:t>
                              </m:r>
                            </m:e>
                            <m:sub>
                              <m:r>
                                <a:rPr lang="fr-CA" sz="1800" b="0" i="1" smtClean="0">
                                  <a:latin typeface="Cambria Math" panose="02040503050406030204" pitchFamily="18" charset="0"/>
                                  <a:ea typeface="Cambria Math" panose="02040503050406030204" pitchFamily="18" charset="0"/>
                                </a:rPr>
                                <m:t>1</m:t>
                              </m:r>
                            </m:sub>
                          </m:sSub>
                          <m:r>
                            <a:rPr lang="fr-CA" sz="1800" b="0" i="1" smtClean="0">
                              <a:latin typeface="Cambria Math" panose="02040503050406030204" pitchFamily="18" charset="0"/>
                              <a:ea typeface="Cambria Math" panose="02040503050406030204" pitchFamily="18" charset="0"/>
                            </a:rPr>
                            <m:t>𝑐𝑜𝑠</m:t>
                          </m:r>
                          <m:r>
                            <a:rPr lang="fr-CA" sz="1800" b="0" i="1" smtClean="0">
                              <a:latin typeface="Cambria Math" panose="02040503050406030204" pitchFamily="18" charset="0"/>
                              <a:ea typeface="Cambria Math" panose="02040503050406030204" pitchFamily="18" charset="0"/>
                            </a:rPr>
                            <m:t>𝜃</m:t>
                          </m:r>
                          <m:r>
                            <a:rPr lang="fr-CA" sz="1800" b="0" i="1" smtClean="0">
                              <a:latin typeface="Cambria Math" panose="02040503050406030204" pitchFamily="18" charset="0"/>
                              <a:ea typeface="Cambria Math" panose="02040503050406030204" pitchFamily="18" charset="0"/>
                            </a:rPr>
                            <m:t>𝑠𝑖𝑛</m:t>
                          </m:r>
                          <m:r>
                            <a:rPr lang="fr-CA" sz="1800" b="0" i="1" smtClean="0">
                              <a:latin typeface="Cambria Math" panose="02040503050406030204" pitchFamily="18" charset="0"/>
                              <a:ea typeface="Cambria Math" panose="02040503050406030204" pitchFamily="18" charset="0"/>
                            </a:rPr>
                            <m:t>𝜃</m:t>
                          </m:r>
                          <m:r>
                            <a:rPr lang="fr-CA" sz="1800" b="0" i="1" smtClean="0">
                              <a:latin typeface="Cambria Math" panose="02040503050406030204" pitchFamily="18" charset="0"/>
                              <a:ea typeface="Cambria Math" panose="02040503050406030204" pitchFamily="18" charset="0"/>
                            </a:rPr>
                            <m:t>=0</m:t>
                          </m:r>
                        </m:e>
                      </m:nary>
                    </m:oMath>
                  </m:oMathPara>
                </a14:m>
                <a:endParaRPr lang="fr-FR" sz="1800" dirty="0"/>
              </a:p>
              <a:p>
                <a:pPr marL="0" indent="0" algn="ctr">
                  <a:buNone/>
                </a:pPr>
                <a14:m>
                  <m:oMath xmlns:m="http://schemas.openxmlformats.org/officeDocument/2006/math">
                    <m:r>
                      <a:rPr lang="fr-CA" sz="1800" b="0" i="1" smtClean="0">
                        <a:latin typeface="Cambria Math" panose="02040503050406030204" pitchFamily="18" charset="0"/>
                        <a:ea typeface="Cambria Math" panose="02040503050406030204" pitchFamily="18" charset="0"/>
                      </a:rPr>
                      <m:t>𝐻</m:t>
                    </m:r>
                    <m:d>
                      <m:dPr>
                        <m:ctrlPr>
                          <a:rPr lang="fr-CA" sz="1800" b="0" i="1" smtClean="0">
                            <a:latin typeface="Cambria Math" panose="02040503050406030204" pitchFamily="18" charset="0"/>
                            <a:ea typeface="Cambria Math" panose="02040503050406030204" pitchFamily="18" charset="0"/>
                          </a:rPr>
                        </m:ctrlPr>
                      </m:dPr>
                      <m:e>
                        <m:r>
                          <a:rPr lang="fr-CA" sz="1800" b="0" i="1" smtClean="0">
                            <a:latin typeface="Cambria Math" panose="02040503050406030204" pitchFamily="18" charset="0"/>
                            <a:ea typeface="Cambria Math" panose="02040503050406030204" pitchFamily="18" charset="0"/>
                          </a:rPr>
                          <m:t>𝜃</m:t>
                        </m:r>
                      </m:e>
                    </m:d>
                    <m:r>
                      <a:rPr lang="fr-CA" sz="1800" b="0" i="1" smtClean="0">
                        <a:latin typeface="Cambria Math" panose="02040503050406030204" pitchFamily="18" charset="0"/>
                        <a:ea typeface="Cambria Math" panose="02040503050406030204" pitchFamily="18" charset="0"/>
                      </a:rPr>
                      <m:t>=</m:t>
                    </m:r>
                    <m:f>
                      <m:fPr>
                        <m:ctrlPr>
                          <a:rPr lang="fr-CA" sz="1800" b="0" i="1" smtClean="0">
                            <a:latin typeface="Cambria Math" panose="02040503050406030204" pitchFamily="18" charset="0"/>
                            <a:ea typeface="Cambria Math" panose="02040503050406030204" pitchFamily="18" charset="0"/>
                          </a:rPr>
                        </m:ctrlPr>
                      </m:fPr>
                      <m:num>
                        <m:sSub>
                          <m:sSubPr>
                            <m:ctrlPr>
                              <a:rPr lang="fr-CA" sz="1800" b="0" i="1" smtClean="0">
                                <a:latin typeface="Cambria Math" panose="02040503050406030204" pitchFamily="18" charset="0"/>
                                <a:ea typeface="Cambria Math" panose="02040503050406030204" pitchFamily="18" charset="0"/>
                              </a:rPr>
                            </m:ctrlPr>
                          </m:sSubPr>
                          <m:e>
                            <m:r>
                              <a:rPr lang="fr-CA" sz="1800" b="0" i="1" smtClean="0">
                                <a:latin typeface="Cambria Math" panose="02040503050406030204" pitchFamily="18" charset="0"/>
                                <a:ea typeface="Cambria Math" panose="02040503050406030204" pitchFamily="18" charset="0"/>
                              </a:rPr>
                              <m:t>𝐹</m:t>
                            </m:r>
                          </m:e>
                          <m:sub>
                            <m:r>
                              <a:rPr lang="fr-CA" sz="1800" b="0" i="1" smtClean="0">
                                <a:latin typeface="Cambria Math" panose="02040503050406030204" pitchFamily="18" charset="0"/>
                                <a:ea typeface="Cambria Math" panose="02040503050406030204" pitchFamily="18" charset="0"/>
                              </a:rPr>
                              <m:t>𝑜𝑢𝑡</m:t>
                            </m:r>
                          </m:sub>
                        </m:sSub>
                      </m:num>
                      <m:den>
                        <m:sSub>
                          <m:sSubPr>
                            <m:ctrlPr>
                              <a:rPr lang="fr-CA" sz="1800" b="0" i="1" smtClean="0">
                                <a:latin typeface="Cambria Math" panose="02040503050406030204" pitchFamily="18" charset="0"/>
                                <a:ea typeface="Cambria Math" panose="02040503050406030204" pitchFamily="18" charset="0"/>
                              </a:rPr>
                            </m:ctrlPr>
                          </m:sSubPr>
                          <m:e>
                            <m:r>
                              <a:rPr lang="fr-CA" sz="1800" b="0" i="1" smtClean="0">
                                <a:latin typeface="Cambria Math" panose="02040503050406030204" pitchFamily="18" charset="0"/>
                                <a:ea typeface="Cambria Math" panose="02040503050406030204" pitchFamily="18" charset="0"/>
                              </a:rPr>
                              <m:t>𝐹</m:t>
                            </m:r>
                          </m:e>
                          <m:sub>
                            <m:r>
                              <a:rPr lang="fr-CA" sz="1800" b="0" i="1" smtClean="0">
                                <a:latin typeface="Cambria Math" panose="02040503050406030204" pitchFamily="18" charset="0"/>
                                <a:ea typeface="Cambria Math" panose="02040503050406030204" pitchFamily="18" charset="0"/>
                              </a:rPr>
                              <m:t>𝑖𝑛</m:t>
                            </m:r>
                          </m:sub>
                        </m:sSub>
                      </m:den>
                    </m:f>
                    <m:r>
                      <a:rPr lang="fr-CA" sz="1800" b="0" i="1" smtClean="0">
                        <a:latin typeface="Cambria Math" panose="02040503050406030204" pitchFamily="18" charset="0"/>
                        <a:ea typeface="Cambria Math" panose="02040503050406030204" pitchFamily="18" charset="0"/>
                      </a:rPr>
                      <m:t>     </m:t>
                    </m:r>
                  </m:oMath>
                </a14:m>
                <a:r>
                  <a:rPr lang="fr-CA" sz="1800" b="0" dirty="0">
                    <a:ea typeface="Cambria Math" panose="02040503050406030204" pitchFamily="18" charset="0"/>
                    <a:sym typeface="Wingdings" panose="05000000000000000000" pitchFamily="2" charset="2"/>
                  </a:rPr>
                  <a:t>     </a:t>
                </a:r>
                <a14:m>
                  <m:oMath xmlns:m="http://schemas.openxmlformats.org/officeDocument/2006/math">
                    <m:borderBox>
                      <m:borderBoxPr>
                        <m:ctrlPr>
                          <a:rPr lang="fr-CA" sz="1800" b="0" i="1" dirty="0" smtClean="0">
                            <a:latin typeface="Cambria Math" panose="02040503050406030204" pitchFamily="18" charset="0"/>
                            <a:ea typeface="Cambria Math" panose="02040503050406030204" pitchFamily="18" charset="0"/>
                            <a:sym typeface="Wingdings" panose="05000000000000000000" pitchFamily="2" charset="2"/>
                          </a:rPr>
                        </m:ctrlPr>
                      </m:borderBoxPr>
                      <m:e>
                        <m:r>
                          <a:rPr lang="fr-CA" sz="1800" i="1" smtClean="0">
                            <a:solidFill>
                              <a:srgbClr val="0000CC"/>
                            </a:solidFill>
                            <a:latin typeface="Cambria Math" panose="02040503050406030204" pitchFamily="18" charset="0"/>
                            <a:ea typeface="Cambria Math" panose="02040503050406030204" pitchFamily="18" charset="0"/>
                          </a:rPr>
                          <m:t>𝐻</m:t>
                        </m:r>
                        <m:d>
                          <m:dPr>
                            <m:ctrlPr>
                              <a:rPr lang="fr-CA" sz="1800" i="1">
                                <a:solidFill>
                                  <a:srgbClr val="0000CC"/>
                                </a:solidFill>
                                <a:latin typeface="Cambria Math" panose="02040503050406030204" pitchFamily="18" charset="0"/>
                                <a:ea typeface="Cambria Math" panose="02040503050406030204" pitchFamily="18" charset="0"/>
                              </a:rPr>
                            </m:ctrlPr>
                          </m:dPr>
                          <m:e>
                            <m:r>
                              <a:rPr lang="fr-CA" sz="1800" i="1">
                                <a:solidFill>
                                  <a:srgbClr val="0000CC"/>
                                </a:solidFill>
                                <a:latin typeface="Cambria Math" panose="02040503050406030204" pitchFamily="18" charset="0"/>
                                <a:ea typeface="Cambria Math" panose="02040503050406030204" pitchFamily="18" charset="0"/>
                              </a:rPr>
                              <m:t>𝜃</m:t>
                            </m:r>
                          </m:e>
                        </m:d>
                        <m:r>
                          <a:rPr lang="fr-CA" sz="1800" i="1">
                            <a:solidFill>
                              <a:srgbClr val="0000CC"/>
                            </a:solidFill>
                            <a:latin typeface="Cambria Math" panose="02040503050406030204" pitchFamily="18" charset="0"/>
                            <a:ea typeface="Cambria Math" panose="02040503050406030204" pitchFamily="18" charset="0"/>
                          </a:rPr>
                          <m:t>=</m:t>
                        </m:r>
                        <m:r>
                          <m:rPr>
                            <m:nor/>
                          </m:rPr>
                          <a:rPr lang="fr-CA" sz="1800" dirty="0">
                            <a:solidFill>
                              <a:srgbClr val="0000CC"/>
                            </a:solidFill>
                            <a:ea typeface="Cambria Math" panose="02040503050406030204" pitchFamily="18" charset="0"/>
                          </a:rPr>
                          <m:t> </m:t>
                        </m:r>
                        <m:f>
                          <m:fPr>
                            <m:ctrlPr>
                              <a:rPr lang="fr-CA" sz="1800" i="1">
                                <a:solidFill>
                                  <a:srgbClr val="0000CC"/>
                                </a:solidFill>
                                <a:latin typeface="Cambria Math" panose="02040503050406030204" pitchFamily="18" charset="0"/>
                                <a:ea typeface="Cambria Math" panose="02040503050406030204" pitchFamily="18" charset="0"/>
                              </a:rPr>
                            </m:ctrlPr>
                          </m:fPr>
                          <m:num>
                            <m:sSub>
                              <m:sSubPr>
                                <m:ctrlPr>
                                  <a:rPr lang="fr-CA" sz="1800" i="1">
                                    <a:solidFill>
                                      <a:srgbClr val="0000CC"/>
                                    </a:solidFill>
                                    <a:latin typeface="Cambria Math" panose="02040503050406030204" pitchFamily="18" charset="0"/>
                                    <a:ea typeface="Cambria Math" panose="02040503050406030204" pitchFamily="18" charset="0"/>
                                  </a:rPr>
                                </m:ctrlPr>
                              </m:sSubPr>
                              <m:e>
                                <m:r>
                                  <a:rPr lang="fr-CA" sz="1800" i="1">
                                    <a:solidFill>
                                      <a:srgbClr val="0000CC"/>
                                    </a:solidFill>
                                    <a:latin typeface="Cambria Math" panose="02040503050406030204" pitchFamily="18" charset="0"/>
                                    <a:ea typeface="Cambria Math" panose="02040503050406030204" pitchFamily="18" charset="0"/>
                                  </a:rPr>
                                  <m:t>𝑙</m:t>
                                </m:r>
                              </m:e>
                              <m:sub>
                                <m:r>
                                  <a:rPr lang="fr-CA" sz="1800" i="1">
                                    <a:solidFill>
                                      <a:srgbClr val="0000CC"/>
                                    </a:solidFill>
                                    <a:latin typeface="Cambria Math" panose="02040503050406030204" pitchFamily="18" charset="0"/>
                                    <a:ea typeface="Cambria Math" panose="02040503050406030204" pitchFamily="18" charset="0"/>
                                  </a:rPr>
                                  <m:t>1</m:t>
                                </m:r>
                              </m:sub>
                            </m:sSub>
                          </m:num>
                          <m:den>
                            <m:sSub>
                              <m:sSubPr>
                                <m:ctrlPr>
                                  <a:rPr lang="fr-CA" sz="1800" i="1">
                                    <a:solidFill>
                                      <a:srgbClr val="0000CC"/>
                                    </a:solidFill>
                                    <a:latin typeface="Cambria Math" panose="02040503050406030204" pitchFamily="18" charset="0"/>
                                    <a:ea typeface="Cambria Math" panose="02040503050406030204" pitchFamily="18" charset="0"/>
                                  </a:rPr>
                                </m:ctrlPr>
                              </m:sSubPr>
                              <m:e>
                                <m:r>
                                  <a:rPr lang="fr-CA" sz="1800" i="1">
                                    <a:solidFill>
                                      <a:srgbClr val="0000CC"/>
                                    </a:solidFill>
                                    <a:latin typeface="Cambria Math" panose="02040503050406030204" pitchFamily="18" charset="0"/>
                                    <a:ea typeface="Cambria Math" panose="02040503050406030204" pitchFamily="18" charset="0"/>
                                  </a:rPr>
                                  <m:t>𝑙</m:t>
                                </m:r>
                              </m:e>
                              <m:sub>
                                <m:r>
                                  <a:rPr lang="fr-CA" sz="1800" i="1">
                                    <a:solidFill>
                                      <a:srgbClr val="0000CC"/>
                                    </a:solidFill>
                                    <a:latin typeface="Cambria Math" panose="02040503050406030204" pitchFamily="18" charset="0"/>
                                    <a:ea typeface="Cambria Math" panose="02040503050406030204" pitchFamily="18" charset="0"/>
                                  </a:rPr>
                                  <m:t>2</m:t>
                                </m:r>
                              </m:sub>
                            </m:sSub>
                          </m:den>
                        </m:f>
                        <m:r>
                          <a:rPr lang="fr-CA" sz="1800" i="1">
                            <a:solidFill>
                              <a:srgbClr val="0000CC"/>
                            </a:solidFill>
                            <a:latin typeface="Cambria Math" panose="02040503050406030204" pitchFamily="18" charset="0"/>
                            <a:ea typeface="Cambria Math" panose="02040503050406030204" pitchFamily="18" charset="0"/>
                          </a:rPr>
                          <m:t>𝑐𝑜𝑠</m:t>
                        </m:r>
                        <m:r>
                          <a:rPr lang="fr-CA" sz="1800" i="1">
                            <a:solidFill>
                              <a:srgbClr val="0000CC"/>
                            </a:solidFill>
                            <a:latin typeface="Cambria Math" panose="02040503050406030204" pitchFamily="18" charset="0"/>
                            <a:ea typeface="Cambria Math" panose="02040503050406030204" pitchFamily="18" charset="0"/>
                          </a:rPr>
                          <m:t>𝜃</m:t>
                        </m:r>
                        <m:r>
                          <a:rPr lang="fr-CA" sz="1800" i="1">
                            <a:solidFill>
                              <a:srgbClr val="0000CC"/>
                            </a:solidFill>
                            <a:latin typeface="Cambria Math" panose="02040503050406030204" pitchFamily="18" charset="0"/>
                            <a:ea typeface="Cambria Math" panose="02040503050406030204" pitchFamily="18" charset="0"/>
                          </a:rPr>
                          <m:t>𝑠𝑖𝑛</m:t>
                        </m:r>
                        <m:r>
                          <a:rPr lang="fr-CA" sz="1800" i="1">
                            <a:solidFill>
                              <a:srgbClr val="0000CC"/>
                            </a:solidFill>
                            <a:latin typeface="Cambria Math" panose="02040503050406030204" pitchFamily="18" charset="0"/>
                            <a:ea typeface="Cambria Math" panose="02040503050406030204" pitchFamily="18" charset="0"/>
                          </a:rPr>
                          <m:t>𝜃</m:t>
                        </m:r>
                      </m:e>
                    </m:borderBox>
                  </m:oMath>
                </a14:m>
                <a:endParaRPr lang="fr-CA" sz="1800" dirty="0">
                  <a:ea typeface="Cambria Math" panose="02040503050406030204" pitchFamily="18" charset="0"/>
                </a:endParaRPr>
              </a:p>
              <a:p>
                <a:pPr lvl="1">
                  <a:buFont typeface="Wingdings" panose="05000000000000000000" pitchFamily="2" charset="2"/>
                  <a:buChar char="Ø"/>
                </a:pPr>
                <a:endParaRPr lang="fr-FR" sz="1800" dirty="0"/>
              </a:p>
            </p:txBody>
          </p:sp>
        </mc:Choice>
        <mc:Fallback xmlns="">
          <p:sp>
            <p:nvSpPr>
              <p:cNvPr id="11" name="Espace réservé du contenu 10">
                <a:extLst>
                  <a:ext uri="{FF2B5EF4-FFF2-40B4-BE49-F238E27FC236}">
                    <a16:creationId xmlns:a16="http://schemas.microsoft.com/office/drawing/2014/main" id="{98A20EAB-B84F-AD88-1403-9AF27C106FD9}"/>
                  </a:ext>
                </a:extLst>
              </p:cNvPr>
              <p:cNvSpPr>
                <a:spLocks noGrp="1" noRot="1" noChangeAspect="1" noMove="1" noResize="1" noEditPoints="1" noAdjustHandles="1" noChangeArrowheads="1" noChangeShapeType="1" noTextEdit="1"/>
              </p:cNvSpPr>
              <p:nvPr>
                <p:ph sz="half" idx="2"/>
              </p:nvPr>
            </p:nvSpPr>
            <p:spPr>
              <a:xfrm>
                <a:off x="6172199" y="1825625"/>
                <a:ext cx="5883089" cy="4351338"/>
              </a:xfrm>
              <a:blipFill>
                <a:blip r:embed="rId2"/>
                <a:stretch>
                  <a:fillRect l="-621" t="-1681"/>
                </a:stretch>
              </a:blipFill>
            </p:spPr>
            <p:txBody>
              <a:bodyPr/>
              <a:lstStyle/>
              <a:p>
                <a:r>
                  <a:rPr lang="fr-FR">
                    <a:noFill/>
                  </a:rPr>
                  <a:t> </a:t>
                </a:r>
              </a:p>
            </p:txBody>
          </p:sp>
        </mc:Fallback>
      </mc:AlternateContent>
      <p:cxnSp>
        <p:nvCxnSpPr>
          <p:cNvPr id="15" name="Connecteur droit 14">
            <a:extLst>
              <a:ext uri="{FF2B5EF4-FFF2-40B4-BE49-F238E27FC236}">
                <a16:creationId xmlns:a16="http://schemas.microsoft.com/office/drawing/2014/main" id="{4C40719C-3DC7-CAE5-97EE-0983C9C95510}"/>
              </a:ext>
            </a:extLst>
          </p:cNvPr>
          <p:cNvCxnSpPr>
            <a:cxnSpLocks/>
          </p:cNvCxnSpPr>
          <p:nvPr/>
        </p:nvCxnSpPr>
        <p:spPr>
          <a:xfrm>
            <a:off x="1440937" y="5545931"/>
            <a:ext cx="298608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Connecteur droit avec flèche 18">
            <a:extLst>
              <a:ext uri="{FF2B5EF4-FFF2-40B4-BE49-F238E27FC236}">
                <a16:creationId xmlns:a16="http://schemas.microsoft.com/office/drawing/2014/main" id="{F518AE61-B1BF-A3C1-7F47-E87FB9E6D2A5}"/>
              </a:ext>
            </a:extLst>
          </p:cNvPr>
          <p:cNvCxnSpPr>
            <a:cxnSpLocks/>
          </p:cNvCxnSpPr>
          <p:nvPr/>
        </p:nvCxnSpPr>
        <p:spPr>
          <a:xfrm flipH="1">
            <a:off x="4301217" y="4756310"/>
            <a:ext cx="111918" cy="347155"/>
          </a:xfrm>
          <a:prstGeom prst="straightConnector1">
            <a:avLst/>
          </a:prstGeom>
          <a:ln w="38100">
            <a:solidFill>
              <a:srgbClr val="00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7F2AADE2-A9D6-9EA0-3791-A06649C601FB}"/>
                  </a:ext>
                </a:extLst>
              </p:cNvPr>
              <p:cNvSpPr txBox="1"/>
              <p:nvPr/>
            </p:nvSpPr>
            <p:spPr>
              <a:xfrm>
                <a:off x="3386417" y="4725272"/>
                <a:ext cx="40530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CA" b="0" i="1" smtClean="0">
                              <a:latin typeface="Cambria Math" panose="02040503050406030204" pitchFamily="18" charset="0"/>
                            </a:rPr>
                          </m:ctrlPr>
                        </m:sSubPr>
                        <m:e>
                          <m:r>
                            <a:rPr lang="fr-CA" b="0" i="1" smtClean="0">
                              <a:latin typeface="Cambria Math" panose="02040503050406030204" pitchFamily="18" charset="0"/>
                            </a:rPr>
                            <m:t>𝑙</m:t>
                          </m:r>
                        </m:e>
                        <m:sub>
                          <m:r>
                            <a:rPr lang="fr-CA" b="0" i="1" smtClean="0">
                              <a:latin typeface="Cambria Math" panose="02040503050406030204" pitchFamily="18" charset="0"/>
                            </a:rPr>
                            <m:t>1</m:t>
                          </m:r>
                        </m:sub>
                      </m:sSub>
                    </m:oMath>
                  </m:oMathPara>
                </a14:m>
                <a:endParaRPr lang="fr-FR" dirty="0"/>
              </a:p>
            </p:txBody>
          </p:sp>
        </mc:Choice>
        <mc:Fallback xmlns="">
          <p:sp>
            <p:nvSpPr>
              <p:cNvPr id="20" name="ZoneTexte 19">
                <a:extLst>
                  <a:ext uri="{FF2B5EF4-FFF2-40B4-BE49-F238E27FC236}">
                    <a16:creationId xmlns:a16="http://schemas.microsoft.com/office/drawing/2014/main" id="{7F2AADE2-A9D6-9EA0-3791-A06649C601FB}"/>
                  </a:ext>
                </a:extLst>
              </p:cNvPr>
              <p:cNvSpPr txBox="1">
                <a:spLocks noRot="1" noChangeAspect="1" noMove="1" noResize="1" noEditPoints="1" noAdjustHandles="1" noChangeArrowheads="1" noChangeShapeType="1" noTextEdit="1"/>
              </p:cNvSpPr>
              <p:nvPr/>
            </p:nvSpPr>
            <p:spPr>
              <a:xfrm>
                <a:off x="3386417" y="4725272"/>
                <a:ext cx="405303" cy="369332"/>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BA944EA3-5A34-6AE7-03B8-F6AE55CA8152}"/>
                  </a:ext>
                </a:extLst>
              </p:cNvPr>
              <p:cNvSpPr txBox="1"/>
              <p:nvPr/>
            </p:nvSpPr>
            <p:spPr>
              <a:xfrm>
                <a:off x="2186488" y="4725272"/>
                <a:ext cx="4106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CA" b="0" i="1" smtClean="0">
                              <a:latin typeface="Cambria Math" panose="02040503050406030204" pitchFamily="18" charset="0"/>
                            </a:rPr>
                          </m:ctrlPr>
                        </m:sSubPr>
                        <m:e>
                          <m:r>
                            <a:rPr lang="fr-CA" b="0" i="1" smtClean="0">
                              <a:latin typeface="Cambria Math" panose="02040503050406030204" pitchFamily="18" charset="0"/>
                            </a:rPr>
                            <m:t>𝑙</m:t>
                          </m:r>
                        </m:e>
                        <m:sub>
                          <m:r>
                            <a:rPr lang="fr-CA" b="0" i="1" smtClean="0">
                              <a:latin typeface="Cambria Math" panose="02040503050406030204" pitchFamily="18" charset="0"/>
                            </a:rPr>
                            <m:t>2</m:t>
                          </m:r>
                        </m:sub>
                      </m:sSub>
                    </m:oMath>
                  </m:oMathPara>
                </a14:m>
                <a:endParaRPr lang="fr-FR" dirty="0"/>
              </a:p>
            </p:txBody>
          </p:sp>
        </mc:Choice>
        <mc:Fallback xmlns="">
          <p:sp>
            <p:nvSpPr>
              <p:cNvPr id="21" name="ZoneTexte 20">
                <a:extLst>
                  <a:ext uri="{FF2B5EF4-FFF2-40B4-BE49-F238E27FC236}">
                    <a16:creationId xmlns:a16="http://schemas.microsoft.com/office/drawing/2014/main" id="{BA944EA3-5A34-6AE7-03B8-F6AE55CA8152}"/>
                  </a:ext>
                </a:extLst>
              </p:cNvPr>
              <p:cNvSpPr txBox="1">
                <a:spLocks noRot="1" noChangeAspect="1" noMove="1" noResize="1" noEditPoints="1" noAdjustHandles="1" noChangeArrowheads="1" noChangeShapeType="1" noTextEdit="1"/>
              </p:cNvSpPr>
              <p:nvPr/>
            </p:nvSpPr>
            <p:spPr>
              <a:xfrm>
                <a:off x="2186488" y="4725272"/>
                <a:ext cx="410625" cy="369332"/>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94D0450F-BB03-4D3F-3C8D-16E830603163}"/>
                  </a:ext>
                </a:extLst>
              </p:cNvPr>
              <p:cNvSpPr txBox="1"/>
              <p:nvPr/>
            </p:nvSpPr>
            <p:spPr>
              <a:xfrm>
                <a:off x="3930318" y="4317579"/>
                <a:ext cx="106343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CA" b="0" i="1" smtClean="0">
                              <a:solidFill>
                                <a:srgbClr val="0000CC"/>
                              </a:solidFill>
                              <a:latin typeface="Cambria Math" panose="02040503050406030204" pitchFamily="18" charset="0"/>
                            </a:rPr>
                          </m:ctrlPr>
                        </m:sSubPr>
                        <m:e>
                          <m:r>
                            <a:rPr lang="fr-CA" b="0" i="1" smtClean="0">
                              <a:solidFill>
                                <a:srgbClr val="0000CC"/>
                              </a:solidFill>
                              <a:latin typeface="Cambria Math" panose="02040503050406030204" pitchFamily="18" charset="0"/>
                            </a:rPr>
                            <m:t>𝐹</m:t>
                          </m:r>
                        </m:e>
                        <m:sub>
                          <m:r>
                            <a:rPr lang="fr-CA" b="0" i="1" smtClean="0">
                              <a:solidFill>
                                <a:srgbClr val="0000CC"/>
                              </a:solidFill>
                              <a:latin typeface="Cambria Math" panose="02040503050406030204" pitchFamily="18" charset="0"/>
                            </a:rPr>
                            <m:t>𝑖𝑛</m:t>
                          </m:r>
                        </m:sub>
                      </m:sSub>
                      <m:func>
                        <m:funcPr>
                          <m:ctrlPr>
                            <a:rPr lang="fr-CA" b="0" i="1" smtClean="0">
                              <a:solidFill>
                                <a:srgbClr val="0000CC"/>
                              </a:solidFill>
                              <a:latin typeface="Cambria Math" panose="02040503050406030204" pitchFamily="18" charset="0"/>
                            </a:rPr>
                          </m:ctrlPr>
                        </m:funcPr>
                        <m:fName>
                          <m:r>
                            <m:rPr>
                              <m:sty m:val="p"/>
                            </m:rPr>
                            <a:rPr lang="fr-CA" b="0" i="0" smtClean="0">
                              <a:solidFill>
                                <a:srgbClr val="0000CC"/>
                              </a:solidFill>
                              <a:latin typeface="Cambria Math" panose="02040503050406030204" pitchFamily="18" charset="0"/>
                            </a:rPr>
                            <m:t>cos</m:t>
                          </m:r>
                        </m:fName>
                        <m:e>
                          <m:r>
                            <a:rPr lang="fr-CA" b="0" i="1" smtClean="0">
                              <a:solidFill>
                                <a:srgbClr val="0000CC"/>
                              </a:solidFill>
                              <a:latin typeface="Cambria Math" panose="02040503050406030204" pitchFamily="18" charset="0"/>
                            </a:rPr>
                            <m:t>𝜃</m:t>
                          </m:r>
                        </m:e>
                      </m:func>
                    </m:oMath>
                  </m:oMathPara>
                </a14:m>
                <a:endParaRPr lang="fr-FR" dirty="0">
                  <a:solidFill>
                    <a:srgbClr val="0000CC"/>
                  </a:solidFill>
                </a:endParaRPr>
              </a:p>
            </p:txBody>
          </p:sp>
        </mc:Choice>
        <mc:Fallback xmlns="">
          <p:sp>
            <p:nvSpPr>
              <p:cNvPr id="23" name="ZoneTexte 22">
                <a:extLst>
                  <a:ext uri="{FF2B5EF4-FFF2-40B4-BE49-F238E27FC236}">
                    <a16:creationId xmlns:a16="http://schemas.microsoft.com/office/drawing/2014/main" id="{94D0450F-BB03-4D3F-3C8D-16E830603163}"/>
                  </a:ext>
                </a:extLst>
              </p:cNvPr>
              <p:cNvSpPr txBox="1">
                <a:spLocks noRot="1" noChangeAspect="1" noMove="1" noResize="1" noEditPoints="1" noAdjustHandles="1" noChangeArrowheads="1" noChangeShapeType="1" noTextEdit="1"/>
              </p:cNvSpPr>
              <p:nvPr/>
            </p:nvSpPr>
            <p:spPr>
              <a:xfrm>
                <a:off x="3930318" y="4317579"/>
                <a:ext cx="1063433" cy="369332"/>
              </a:xfrm>
              <a:prstGeom prst="rect">
                <a:avLst/>
              </a:prstGeom>
              <a:blipFill>
                <a:blip r:embed="rId5"/>
                <a:stretch>
                  <a:fillRect/>
                </a:stretch>
              </a:blipFill>
            </p:spPr>
            <p:txBody>
              <a:bodyPr/>
              <a:lstStyle/>
              <a:p>
                <a:r>
                  <a:rPr lang="fr-FR">
                    <a:noFill/>
                  </a:rPr>
                  <a:t> </a:t>
                </a:r>
              </a:p>
            </p:txBody>
          </p:sp>
        </mc:Fallback>
      </mc:AlternateContent>
      <p:sp>
        <p:nvSpPr>
          <p:cNvPr id="24" name="Triangle isocèle 23">
            <a:extLst>
              <a:ext uri="{FF2B5EF4-FFF2-40B4-BE49-F238E27FC236}">
                <a16:creationId xmlns:a16="http://schemas.microsoft.com/office/drawing/2014/main" id="{0F2705B7-708D-0DC0-FAFC-ADB78B8B5B40}"/>
              </a:ext>
            </a:extLst>
          </p:cNvPr>
          <p:cNvSpPr/>
          <p:nvPr/>
        </p:nvSpPr>
        <p:spPr>
          <a:xfrm rot="10800000">
            <a:off x="1440937" y="4763317"/>
            <a:ext cx="349116" cy="301938"/>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cxnSp>
        <p:nvCxnSpPr>
          <p:cNvPr id="25" name="Connecteur droit 24">
            <a:extLst>
              <a:ext uri="{FF2B5EF4-FFF2-40B4-BE49-F238E27FC236}">
                <a16:creationId xmlns:a16="http://schemas.microsoft.com/office/drawing/2014/main" id="{9047B1DB-4A62-D14C-1BF5-4963B340091A}"/>
              </a:ext>
            </a:extLst>
          </p:cNvPr>
          <p:cNvCxnSpPr>
            <a:cxnSpLocks/>
          </p:cNvCxnSpPr>
          <p:nvPr/>
        </p:nvCxnSpPr>
        <p:spPr>
          <a:xfrm>
            <a:off x="1344894" y="4763317"/>
            <a:ext cx="54292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Connecteur droit 42">
            <a:extLst>
              <a:ext uri="{FF2B5EF4-FFF2-40B4-BE49-F238E27FC236}">
                <a16:creationId xmlns:a16="http://schemas.microsoft.com/office/drawing/2014/main" id="{033E3493-7E69-8D51-1AA5-EFF4059B495E}"/>
              </a:ext>
            </a:extLst>
          </p:cNvPr>
          <p:cNvCxnSpPr>
            <a:cxnSpLocks/>
          </p:cNvCxnSpPr>
          <p:nvPr/>
        </p:nvCxnSpPr>
        <p:spPr>
          <a:xfrm rot="16200000">
            <a:off x="4993751" y="4475634"/>
            <a:ext cx="0" cy="1280259"/>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47" name="Ellipse 46">
            <a:extLst>
              <a:ext uri="{FF2B5EF4-FFF2-40B4-BE49-F238E27FC236}">
                <a16:creationId xmlns:a16="http://schemas.microsoft.com/office/drawing/2014/main" id="{5FC8A889-52A5-5215-1027-9371AB264C6E}"/>
              </a:ext>
            </a:extLst>
          </p:cNvPr>
          <p:cNvSpPr/>
          <p:nvPr/>
        </p:nvSpPr>
        <p:spPr>
          <a:xfrm flipH="1">
            <a:off x="3089341" y="5126670"/>
            <a:ext cx="68584" cy="6858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Arc 47">
            <a:extLst>
              <a:ext uri="{FF2B5EF4-FFF2-40B4-BE49-F238E27FC236}">
                <a16:creationId xmlns:a16="http://schemas.microsoft.com/office/drawing/2014/main" id="{256D6E77-58DE-948D-734B-D91B93829E82}"/>
              </a:ext>
            </a:extLst>
          </p:cNvPr>
          <p:cNvSpPr/>
          <p:nvPr/>
        </p:nvSpPr>
        <p:spPr>
          <a:xfrm>
            <a:off x="4022530" y="4830683"/>
            <a:ext cx="575388" cy="575388"/>
          </a:xfrm>
          <a:prstGeom prst="arc">
            <a:avLst>
              <a:gd name="adj1" fmla="val 17992161"/>
              <a:gd name="adj2" fmla="val 0"/>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49" name="ZoneTexte 48">
                <a:extLst>
                  <a:ext uri="{FF2B5EF4-FFF2-40B4-BE49-F238E27FC236}">
                    <a16:creationId xmlns:a16="http://schemas.microsoft.com/office/drawing/2014/main" id="{9B9C2996-B493-E9BB-F639-823DCB6D4559}"/>
                  </a:ext>
                </a:extLst>
              </p:cNvPr>
              <p:cNvSpPr txBox="1"/>
              <p:nvPr/>
            </p:nvSpPr>
            <p:spPr>
              <a:xfrm>
                <a:off x="4427024" y="4572000"/>
                <a:ext cx="443555"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𝜃</m:t>
                      </m:r>
                    </m:oMath>
                  </m:oMathPara>
                </a14:m>
                <a:endParaRPr lang="fr-CA" b="0" dirty="0"/>
              </a:p>
              <a:p>
                <a:endParaRPr lang="fr-FR" dirty="0"/>
              </a:p>
            </p:txBody>
          </p:sp>
        </mc:Choice>
        <mc:Fallback xmlns="">
          <p:sp>
            <p:nvSpPr>
              <p:cNvPr id="49" name="ZoneTexte 48">
                <a:extLst>
                  <a:ext uri="{FF2B5EF4-FFF2-40B4-BE49-F238E27FC236}">
                    <a16:creationId xmlns:a16="http://schemas.microsoft.com/office/drawing/2014/main" id="{9B9C2996-B493-E9BB-F639-823DCB6D4559}"/>
                  </a:ext>
                </a:extLst>
              </p:cNvPr>
              <p:cNvSpPr txBox="1">
                <a:spLocks noRot="1" noChangeAspect="1" noMove="1" noResize="1" noEditPoints="1" noAdjustHandles="1" noChangeArrowheads="1" noChangeShapeType="1" noTextEdit="1"/>
              </p:cNvSpPr>
              <p:nvPr/>
            </p:nvSpPr>
            <p:spPr>
              <a:xfrm>
                <a:off x="4427024" y="4572000"/>
                <a:ext cx="443555" cy="646331"/>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EFB922BA-960D-0F39-388A-1140DC169738}"/>
                  </a:ext>
                </a:extLst>
              </p:cNvPr>
              <p:cNvSpPr txBox="1"/>
              <p:nvPr/>
            </p:nvSpPr>
            <p:spPr>
              <a:xfrm>
                <a:off x="1260824" y="4363277"/>
                <a:ext cx="6431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CA" b="0" i="1" smtClean="0">
                              <a:solidFill>
                                <a:srgbClr val="FF0000"/>
                              </a:solidFill>
                              <a:latin typeface="Cambria Math" panose="02040503050406030204" pitchFamily="18" charset="0"/>
                            </a:rPr>
                          </m:ctrlPr>
                        </m:sSubPr>
                        <m:e>
                          <m:r>
                            <a:rPr lang="fr-CA" b="0" i="1" smtClean="0">
                              <a:solidFill>
                                <a:srgbClr val="FF0000"/>
                              </a:solidFill>
                              <a:latin typeface="Cambria Math" panose="02040503050406030204" pitchFamily="18" charset="0"/>
                            </a:rPr>
                            <m:t>𝐹</m:t>
                          </m:r>
                        </m:e>
                        <m:sub>
                          <m:r>
                            <a:rPr lang="fr-CA" b="0" i="1" smtClean="0">
                              <a:solidFill>
                                <a:srgbClr val="FF0000"/>
                              </a:solidFill>
                              <a:latin typeface="Cambria Math" panose="02040503050406030204" pitchFamily="18" charset="0"/>
                            </a:rPr>
                            <m:t>𝑜𝑢𝑡</m:t>
                          </m:r>
                        </m:sub>
                      </m:sSub>
                    </m:oMath>
                  </m:oMathPara>
                </a14:m>
                <a:endParaRPr lang="fr-FR" dirty="0"/>
              </a:p>
            </p:txBody>
          </p:sp>
        </mc:Choice>
        <mc:Fallback xmlns="">
          <p:sp>
            <p:nvSpPr>
              <p:cNvPr id="4" name="ZoneTexte 3">
                <a:extLst>
                  <a:ext uri="{FF2B5EF4-FFF2-40B4-BE49-F238E27FC236}">
                    <a16:creationId xmlns:a16="http://schemas.microsoft.com/office/drawing/2014/main" id="{EFB922BA-960D-0F39-388A-1140DC169738}"/>
                  </a:ext>
                </a:extLst>
              </p:cNvPr>
              <p:cNvSpPr txBox="1">
                <a:spLocks noRot="1" noChangeAspect="1" noMove="1" noResize="1" noEditPoints="1" noAdjustHandles="1" noChangeArrowheads="1" noChangeShapeType="1" noTextEdit="1"/>
              </p:cNvSpPr>
              <p:nvPr/>
            </p:nvSpPr>
            <p:spPr>
              <a:xfrm>
                <a:off x="1260824" y="4363277"/>
                <a:ext cx="643125" cy="369332"/>
              </a:xfrm>
              <a:prstGeom prst="rect">
                <a:avLst/>
              </a:prstGeom>
              <a:blipFill>
                <a:blip r:embed="rId7"/>
                <a:stretch>
                  <a:fillRect/>
                </a:stretch>
              </a:blipFill>
            </p:spPr>
            <p:txBody>
              <a:bodyPr/>
              <a:lstStyle/>
              <a:p>
                <a:r>
                  <a:rPr lang="fr-FR">
                    <a:noFill/>
                  </a:rPr>
                  <a:t> </a:t>
                </a:r>
              </a:p>
            </p:txBody>
          </p:sp>
        </mc:Fallback>
      </mc:AlternateContent>
      <p:cxnSp>
        <p:nvCxnSpPr>
          <p:cNvPr id="8" name="Connecteur droit avec flèche 7">
            <a:extLst>
              <a:ext uri="{FF2B5EF4-FFF2-40B4-BE49-F238E27FC236}">
                <a16:creationId xmlns:a16="http://schemas.microsoft.com/office/drawing/2014/main" id="{43DDDA3A-9D28-14D2-3ADB-7B89F72C0EA5}"/>
              </a:ext>
            </a:extLst>
          </p:cNvPr>
          <p:cNvCxnSpPr/>
          <p:nvPr/>
        </p:nvCxnSpPr>
        <p:spPr>
          <a:xfrm>
            <a:off x="1622219" y="4708239"/>
            <a:ext cx="0" cy="404812"/>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69B14ADC-BFB8-AB48-1791-08015CF9C0E4}"/>
                  </a:ext>
                </a:extLst>
              </p:cNvPr>
              <p:cNvSpPr txBox="1"/>
              <p:nvPr/>
            </p:nvSpPr>
            <p:spPr>
              <a:xfrm>
                <a:off x="1419567" y="5205754"/>
                <a:ext cx="3978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CA" b="1" i="0" smtClean="0">
                          <a:latin typeface="Cambria Math" panose="02040503050406030204" pitchFamily="18" charset="0"/>
                        </a:rPr>
                        <m:t>𝐁</m:t>
                      </m:r>
                    </m:oMath>
                  </m:oMathPara>
                </a14:m>
                <a:endParaRPr lang="fr-FR" b="1" dirty="0"/>
              </a:p>
            </p:txBody>
          </p:sp>
        </mc:Choice>
        <mc:Fallback xmlns="">
          <p:sp>
            <p:nvSpPr>
              <p:cNvPr id="14" name="ZoneTexte 13">
                <a:extLst>
                  <a:ext uri="{FF2B5EF4-FFF2-40B4-BE49-F238E27FC236}">
                    <a16:creationId xmlns:a16="http://schemas.microsoft.com/office/drawing/2014/main" id="{69B14ADC-BFB8-AB48-1791-08015CF9C0E4}"/>
                  </a:ext>
                </a:extLst>
              </p:cNvPr>
              <p:cNvSpPr txBox="1">
                <a:spLocks noRot="1" noChangeAspect="1" noMove="1" noResize="1" noEditPoints="1" noAdjustHandles="1" noChangeArrowheads="1" noChangeShapeType="1" noTextEdit="1"/>
              </p:cNvSpPr>
              <p:nvPr/>
            </p:nvSpPr>
            <p:spPr>
              <a:xfrm>
                <a:off x="1419567" y="5205754"/>
                <a:ext cx="397865" cy="369332"/>
              </a:xfrm>
              <a:prstGeom prst="rect">
                <a:avLst/>
              </a:prstGeom>
              <a:blipFill>
                <a:blip r:embed="rId8"/>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C404F413-784E-0623-4920-E3244DB92648}"/>
                  </a:ext>
                </a:extLst>
              </p:cNvPr>
              <p:cNvSpPr txBox="1"/>
              <p:nvPr/>
            </p:nvSpPr>
            <p:spPr>
              <a:xfrm>
                <a:off x="2932048" y="5205754"/>
                <a:ext cx="39466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CA" b="1" i="0" smtClean="0">
                          <a:solidFill>
                            <a:schemeClr val="bg1"/>
                          </a:solidFill>
                          <a:latin typeface="Cambria Math" panose="02040503050406030204" pitchFamily="18" charset="0"/>
                        </a:rPr>
                        <m:t>𝐎</m:t>
                      </m:r>
                    </m:oMath>
                  </m:oMathPara>
                </a14:m>
                <a:endParaRPr lang="fr-FR" b="1" dirty="0">
                  <a:solidFill>
                    <a:schemeClr val="bg1"/>
                  </a:solidFill>
                </a:endParaRPr>
              </a:p>
            </p:txBody>
          </p:sp>
        </mc:Choice>
        <mc:Fallback xmlns="">
          <p:sp>
            <p:nvSpPr>
              <p:cNvPr id="16" name="ZoneTexte 15">
                <a:extLst>
                  <a:ext uri="{FF2B5EF4-FFF2-40B4-BE49-F238E27FC236}">
                    <a16:creationId xmlns:a16="http://schemas.microsoft.com/office/drawing/2014/main" id="{C404F413-784E-0623-4920-E3244DB92648}"/>
                  </a:ext>
                </a:extLst>
              </p:cNvPr>
              <p:cNvSpPr txBox="1">
                <a:spLocks noRot="1" noChangeAspect="1" noMove="1" noResize="1" noEditPoints="1" noAdjustHandles="1" noChangeArrowheads="1" noChangeShapeType="1" noTextEdit="1"/>
              </p:cNvSpPr>
              <p:nvPr/>
            </p:nvSpPr>
            <p:spPr>
              <a:xfrm>
                <a:off x="2932048" y="5205754"/>
                <a:ext cx="394660" cy="369332"/>
              </a:xfrm>
              <a:prstGeom prst="rect">
                <a:avLst/>
              </a:prstGeom>
              <a:blipFill>
                <a:blip r:embed="rId9"/>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56ABEE2A-9C28-FE53-FE6B-093A600EABD4}"/>
                  </a:ext>
                </a:extLst>
              </p:cNvPr>
              <p:cNvSpPr txBox="1"/>
              <p:nvPr/>
            </p:nvSpPr>
            <p:spPr>
              <a:xfrm>
                <a:off x="4126882" y="5205754"/>
                <a:ext cx="3882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CA" b="1" i="0" smtClean="0">
                          <a:latin typeface="Cambria Math" panose="02040503050406030204" pitchFamily="18" charset="0"/>
                        </a:rPr>
                        <m:t>𝐀</m:t>
                      </m:r>
                    </m:oMath>
                  </m:oMathPara>
                </a14:m>
                <a:endParaRPr lang="fr-FR" b="1" dirty="0"/>
              </a:p>
            </p:txBody>
          </p:sp>
        </mc:Choice>
        <mc:Fallback xmlns="">
          <p:sp>
            <p:nvSpPr>
              <p:cNvPr id="17" name="ZoneTexte 16">
                <a:extLst>
                  <a:ext uri="{FF2B5EF4-FFF2-40B4-BE49-F238E27FC236}">
                    <a16:creationId xmlns:a16="http://schemas.microsoft.com/office/drawing/2014/main" id="{56ABEE2A-9C28-FE53-FE6B-093A600EABD4}"/>
                  </a:ext>
                </a:extLst>
              </p:cNvPr>
              <p:cNvSpPr txBox="1">
                <a:spLocks noRot="1" noChangeAspect="1" noMove="1" noResize="1" noEditPoints="1" noAdjustHandles="1" noChangeArrowheads="1" noChangeShapeType="1" noTextEdit="1"/>
              </p:cNvSpPr>
              <p:nvPr/>
            </p:nvSpPr>
            <p:spPr>
              <a:xfrm>
                <a:off x="4126882" y="5205754"/>
                <a:ext cx="388248" cy="369332"/>
              </a:xfrm>
              <a:prstGeom prst="rect">
                <a:avLst/>
              </a:prstGeom>
              <a:blipFill>
                <a:blip r:embed="rId10"/>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3024071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58A2F2-DA52-C578-BAFA-9685E32A20E1}"/>
              </a:ext>
            </a:extLst>
          </p:cNvPr>
          <p:cNvSpPr>
            <a:spLocks noGrp="1"/>
          </p:cNvSpPr>
          <p:nvPr>
            <p:ph type="title"/>
          </p:nvPr>
        </p:nvSpPr>
        <p:spPr/>
        <p:txBody>
          <a:bodyPr/>
          <a:lstStyle/>
          <a:p>
            <a:r>
              <a:rPr lang="fr-CA" dirty="0"/>
              <a:t>Méthodologie d’optimisation (2/4)</a:t>
            </a:r>
            <a:endParaRPr lang="fr-FR" dirty="0"/>
          </a:p>
        </p:txBody>
      </p:sp>
      <p:sp>
        <p:nvSpPr>
          <p:cNvPr id="3" name="Espace réservé du contenu 2">
            <a:extLst>
              <a:ext uri="{FF2B5EF4-FFF2-40B4-BE49-F238E27FC236}">
                <a16:creationId xmlns:a16="http://schemas.microsoft.com/office/drawing/2014/main" id="{567C808A-92F8-206A-AD48-39A407FEA1AC}"/>
              </a:ext>
            </a:extLst>
          </p:cNvPr>
          <p:cNvSpPr>
            <a:spLocks noGrp="1"/>
          </p:cNvSpPr>
          <p:nvPr>
            <p:ph sz="half" idx="1"/>
          </p:nvPr>
        </p:nvSpPr>
        <p:spPr>
          <a:xfrm>
            <a:off x="838200" y="1825625"/>
            <a:ext cx="5181600" cy="4667250"/>
          </a:xfrm>
        </p:spPr>
        <p:txBody>
          <a:bodyPr>
            <a:normAutofit lnSpcReduction="10000"/>
          </a:bodyPr>
          <a:lstStyle/>
          <a:p>
            <a:pPr marL="514350" indent="-514350">
              <a:buFont typeface="+mj-lt"/>
              <a:buAutoNum type="arabicPeriod" startAt="2"/>
            </a:pPr>
            <a:r>
              <a:rPr lang="fr-CA" sz="1800" b="1" dirty="0"/>
              <a:t>Définir une méthode d’optimisation (1/2)</a:t>
            </a:r>
          </a:p>
          <a:p>
            <a:pPr lvl="1"/>
            <a:r>
              <a:rPr lang="fr-CA" sz="1800" dirty="0"/>
              <a:t>Technique locale </a:t>
            </a:r>
          </a:p>
          <a:p>
            <a:pPr lvl="2"/>
            <a:r>
              <a:rPr lang="fr-CA" sz="1400" dirty="0"/>
              <a:t>Rapide </a:t>
            </a:r>
          </a:p>
          <a:p>
            <a:pPr lvl="2"/>
            <a:r>
              <a:rPr lang="fr-CA" sz="1400" dirty="0"/>
              <a:t>Explore une partie du domaine de recherche</a:t>
            </a:r>
          </a:p>
          <a:p>
            <a:pPr lvl="2"/>
            <a:r>
              <a:rPr lang="fr-CA" sz="1400" dirty="0"/>
              <a:t>La solution trouvée dépend du point de départ si la fonction contient plusieurs minima, dont un minimum global.</a:t>
            </a:r>
          </a:p>
          <a:p>
            <a:pPr lvl="2"/>
            <a:r>
              <a:rPr lang="fr-CA" sz="1400" dirty="0"/>
              <a:t>Exemples:</a:t>
            </a:r>
          </a:p>
          <a:p>
            <a:pPr lvl="3"/>
            <a:r>
              <a:rPr lang="en-US" sz="1200" dirty="0" err="1">
                <a:hlinkClick r:id="rId2"/>
              </a:rPr>
              <a:t>fmincon</a:t>
            </a:r>
            <a:r>
              <a:rPr lang="en-US" sz="1200" dirty="0">
                <a:hlinkClick r:id="rId2"/>
              </a:rPr>
              <a:t> - Find minimum of constrained nonlinear multivariable function – MATLAB</a:t>
            </a:r>
            <a:endParaRPr lang="en-US" sz="1200" dirty="0"/>
          </a:p>
          <a:p>
            <a:pPr lvl="3"/>
            <a:r>
              <a:rPr lang="fr-CA" sz="1200" dirty="0">
                <a:hlinkClick r:id="rId3"/>
              </a:rPr>
              <a:t>Algorithme du gradient — Wikipédia</a:t>
            </a:r>
            <a:endParaRPr lang="fr-CA" sz="1200" dirty="0"/>
          </a:p>
          <a:p>
            <a:pPr lvl="1"/>
            <a:r>
              <a:rPr lang="fr-CA" sz="1800" dirty="0"/>
              <a:t>Technique globale</a:t>
            </a:r>
          </a:p>
          <a:p>
            <a:pPr lvl="2"/>
            <a:r>
              <a:rPr lang="fr-CA" sz="1400" dirty="0"/>
              <a:t>Rapide à lente </a:t>
            </a:r>
          </a:p>
          <a:p>
            <a:pPr lvl="2"/>
            <a:r>
              <a:rPr lang="fr-CA" sz="1400" dirty="0"/>
              <a:t>Explore une partie du domaine de recherche</a:t>
            </a:r>
          </a:p>
          <a:p>
            <a:pPr lvl="2"/>
            <a:r>
              <a:rPr lang="fr-CA" sz="1400" dirty="0"/>
              <a:t>La solution trouvée </a:t>
            </a:r>
            <a:r>
              <a:rPr lang="fr-CA" sz="1400" b="1" dirty="0"/>
              <a:t>ne dépend pas </a:t>
            </a:r>
            <a:r>
              <a:rPr lang="fr-CA" sz="1400" dirty="0"/>
              <a:t>du point de départ.</a:t>
            </a:r>
          </a:p>
          <a:p>
            <a:pPr lvl="2"/>
            <a:r>
              <a:rPr lang="fr-CA" sz="1400" dirty="0"/>
              <a:t>Exemples:</a:t>
            </a:r>
          </a:p>
          <a:p>
            <a:pPr lvl="3"/>
            <a:r>
              <a:rPr lang="fr-CA" sz="1200" dirty="0">
                <a:hlinkClick r:id="rId4"/>
              </a:rPr>
              <a:t>Algorithme évolutionniste — Wikipédia</a:t>
            </a:r>
            <a:endParaRPr lang="fr-CA" sz="1200" dirty="0"/>
          </a:p>
          <a:p>
            <a:pPr lvl="3"/>
            <a:r>
              <a:rPr lang="en-US" sz="1200" dirty="0">
                <a:hlinkClick r:id="rId5"/>
              </a:rPr>
              <a:t>ga - Find minimum of function using genetic algorithm - MATLAB</a:t>
            </a:r>
            <a:endParaRPr lang="fr-CA" sz="1200" dirty="0"/>
          </a:p>
        </p:txBody>
      </p:sp>
      <p:sp>
        <p:nvSpPr>
          <p:cNvPr id="10" name="Forme libre : forme 9">
            <a:extLst>
              <a:ext uri="{FF2B5EF4-FFF2-40B4-BE49-F238E27FC236}">
                <a16:creationId xmlns:a16="http://schemas.microsoft.com/office/drawing/2014/main" id="{65C1199C-B9D1-B09C-3D06-1FEAC44E4AD4}"/>
              </a:ext>
            </a:extLst>
          </p:cNvPr>
          <p:cNvSpPr/>
          <p:nvPr/>
        </p:nvSpPr>
        <p:spPr>
          <a:xfrm>
            <a:off x="7496734" y="1825626"/>
            <a:ext cx="2440641" cy="1025308"/>
          </a:xfrm>
          <a:custGeom>
            <a:avLst/>
            <a:gdLst>
              <a:gd name="connsiteX0" fmla="*/ 0 w 1936376"/>
              <a:gd name="connsiteY0" fmla="*/ 0 h 941451"/>
              <a:gd name="connsiteX1" fmla="*/ 423582 w 1936376"/>
              <a:gd name="connsiteY1" fmla="*/ 652183 h 941451"/>
              <a:gd name="connsiteX2" fmla="*/ 826994 w 1936376"/>
              <a:gd name="connsiteY2" fmla="*/ 255494 h 941451"/>
              <a:gd name="connsiteX3" fmla="*/ 1216959 w 1936376"/>
              <a:gd name="connsiteY3" fmla="*/ 941294 h 941451"/>
              <a:gd name="connsiteX4" fmla="*/ 1479176 w 1936376"/>
              <a:gd name="connsiteY4" fmla="*/ 322730 h 941451"/>
              <a:gd name="connsiteX5" fmla="*/ 1653988 w 1936376"/>
              <a:gd name="connsiteY5" fmla="*/ 712694 h 941451"/>
              <a:gd name="connsiteX6" fmla="*/ 1936376 w 1936376"/>
              <a:gd name="connsiteY6" fmla="*/ 174812 h 94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6376" h="941451">
                <a:moveTo>
                  <a:pt x="0" y="0"/>
                </a:moveTo>
                <a:cubicBezTo>
                  <a:pt x="142875" y="304800"/>
                  <a:pt x="285750" y="609601"/>
                  <a:pt x="423582" y="652183"/>
                </a:cubicBezTo>
                <a:cubicBezTo>
                  <a:pt x="561414" y="694765"/>
                  <a:pt x="694765" y="207309"/>
                  <a:pt x="826994" y="255494"/>
                </a:cubicBezTo>
                <a:cubicBezTo>
                  <a:pt x="959223" y="303679"/>
                  <a:pt x="1108262" y="930088"/>
                  <a:pt x="1216959" y="941294"/>
                </a:cubicBezTo>
                <a:cubicBezTo>
                  <a:pt x="1325656" y="952500"/>
                  <a:pt x="1406338" y="360830"/>
                  <a:pt x="1479176" y="322730"/>
                </a:cubicBezTo>
                <a:cubicBezTo>
                  <a:pt x="1552014" y="284630"/>
                  <a:pt x="1577788" y="737347"/>
                  <a:pt x="1653988" y="712694"/>
                </a:cubicBezTo>
                <a:cubicBezTo>
                  <a:pt x="1730188" y="688041"/>
                  <a:pt x="1833282" y="431426"/>
                  <a:pt x="1936376" y="17481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B4EAC12F-8090-CF68-25EC-2BF9B7D1C6FE}"/>
              </a:ext>
            </a:extLst>
          </p:cNvPr>
          <p:cNvSpPr/>
          <p:nvPr/>
        </p:nvSpPr>
        <p:spPr>
          <a:xfrm>
            <a:off x="7537075" y="1825625"/>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C0915838-300C-C9F7-28A7-34EC94D9F2A1}"/>
              </a:ext>
            </a:extLst>
          </p:cNvPr>
          <p:cNvSpPr/>
          <p:nvPr/>
        </p:nvSpPr>
        <p:spPr>
          <a:xfrm>
            <a:off x="9170892" y="2230704"/>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Forme libre : forme 21">
            <a:extLst>
              <a:ext uri="{FF2B5EF4-FFF2-40B4-BE49-F238E27FC236}">
                <a16:creationId xmlns:a16="http://schemas.microsoft.com/office/drawing/2014/main" id="{85372AC7-2453-1058-8537-00D16D58ECB1}"/>
              </a:ext>
            </a:extLst>
          </p:cNvPr>
          <p:cNvSpPr/>
          <p:nvPr/>
        </p:nvSpPr>
        <p:spPr>
          <a:xfrm>
            <a:off x="7496734" y="3795620"/>
            <a:ext cx="2440641" cy="1025308"/>
          </a:xfrm>
          <a:custGeom>
            <a:avLst/>
            <a:gdLst>
              <a:gd name="connsiteX0" fmla="*/ 0 w 1936376"/>
              <a:gd name="connsiteY0" fmla="*/ 0 h 941451"/>
              <a:gd name="connsiteX1" fmla="*/ 423582 w 1936376"/>
              <a:gd name="connsiteY1" fmla="*/ 652183 h 941451"/>
              <a:gd name="connsiteX2" fmla="*/ 826994 w 1936376"/>
              <a:gd name="connsiteY2" fmla="*/ 255494 h 941451"/>
              <a:gd name="connsiteX3" fmla="*/ 1216959 w 1936376"/>
              <a:gd name="connsiteY3" fmla="*/ 941294 h 941451"/>
              <a:gd name="connsiteX4" fmla="*/ 1479176 w 1936376"/>
              <a:gd name="connsiteY4" fmla="*/ 322730 h 941451"/>
              <a:gd name="connsiteX5" fmla="*/ 1653988 w 1936376"/>
              <a:gd name="connsiteY5" fmla="*/ 712694 h 941451"/>
              <a:gd name="connsiteX6" fmla="*/ 1936376 w 1936376"/>
              <a:gd name="connsiteY6" fmla="*/ 174812 h 94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6376" h="941451">
                <a:moveTo>
                  <a:pt x="0" y="0"/>
                </a:moveTo>
                <a:cubicBezTo>
                  <a:pt x="142875" y="304800"/>
                  <a:pt x="285750" y="609601"/>
                  <a:pt x="423582" y="652183"/>
                </a:cubicBezTo>
                <a:cubicBezTo>
                  <a:pt x="561414" y="694765"/>
                  <a:pt x="694765" y="207309"/>
                  <a:pt x="826994" y="255494"/>
                </a:cubicBezTo>
                <a:cubicBezTo>
                  <a:pt x="959223" y="303679"/>
                  <a:pt x="1108262" y="930088"/>
                  <a:pt x="1216959" y="941294"/>
                </a:cubicBezTo>
                <a:cubicBezTo>
                  <a:pt x="1325656" y="952500"/>
                  <a:pt x="1406338" y="360830"/>
                  <a:pt x="1479176" y="322730"/>
                </a:cubicBezTo>
                <a:cubicBezTo>
                  <a:pt x="1552014" y="284630"/>
                  <a:pt x="1577788" y="737347"/>
                  <a:pt x="1653988" y="712694"/>
                </a:cubicBezTo>
                <a:cubicBezTo>
                  <a:pt x="1730188" y="688041"/>
                  <a:pt x="1833282" y="431426"/>
                  <a:pt x="1936376" y="17481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DFA29026-656F-2013-EE09-7430ABA8B6E9}"/>
              </a:ext>
            </a:extLst>
          </p:cNvPr>
          <p:cNvSpPr/>
          <p:nvPr/>
        </p:nvSpPr>
        <p:spPr>
          <a:xfrm>
            <a:off x="7537075" y="3795619"/>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79C07445-959C-78DD-4199-C5ADA4AABD50}"/>
              </a:ext>
            </a:extLst>
          </p:cNvPr>
          <p:cNvSpPr/>
          <p:nvPr/>
        </p:nvSpPr>
        <p:spPr>
          <a:xfrm>
            <a:off x="8249769" y="4118348"/>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Ellipse 28">
            <a:extLst>
              <a:ext uri="{FF2B5EF4-FFF2-40B4-BE49-F238E27FC236}">
                <a16:creationId xmlns:a16="http://schemas.microsoft.com/office/drawing/2014/main" id="{2F59F624-2FCE-FDA8-1FE1-1BA4AFF55B16}"/>
              </a:ext>
            </a:extLst>
          </p:cNvPr>
          <p:cNvSpPr/>
          <p:nvPr/>
        </p:nvSpPr>
        <p:spPr>
          <a:xfrm>
            <a:off x="7765676" y="4204246"/>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7A95C75E-83C8-5C26-31F9-90A3C77B2F4D}"/>
              </a:ext>
            </a:extLst>
          </p:cNvPr>
          <p:cNvSpPr/>
          <p:nvPr/>
        </p:nvSpPr>
        <p:spPr>
          <a:xfrm>
            <a:off x="8717054" y="4225924"/>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Ellipse 30">
            <a:extLst>
              <a:ext uri="{FF2B5EF4-FFF2-40B4-BE49-F238E27FC236}">
                <a16:creationId xmlns:a16="http://schemas.microsoft.com/office/drawing/2014/main" id="{1D60063C-066B-A985-BB50-60593573C092}"/>
              </a:ext>
            </a:extLst>
          </p:cNvPr>
          <p:cNvSpPr/>
          <p:nvPr/>
        </p:nvSpPr>
        <p:spPr>
          <a:xfrm>
            <a:off x="9117104" y="4427630"/>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Ellipse 31">
            <a:extLst>
              <a:ext uri="{FF2B5EF4-FFF2-40B4-BE49-F238E27FC236}">
                <a16:creationId xmlns:a16="http://schemas.microsoft.com/office/drawing/2014/main" id="{233084BF-CE99-D8AA-474B-C85E9FF314FA}"/>
              </a:ext>
            </a:extLst>
          </p:cNvPr>
          <p:cNvSpPr/>
          <p:nvPr/>
        </p:nvSpPr>
        <p:spPr>
          <a:xfrm>
            <a:off x="9746871" y="4071284"/>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Ellipse 32">
            <a:extLst>
              <a:ext uri="{FF2B5EF4-FFF2-40B4-BE49-F238E27FC236}">
                <a16:creationId xmlns:a16="http://schemas.microsoft.com/office/drawing/2014/main" id="{C1ADDE83-4172-E6A0-20E2-54A098886ED6}"/>
              </a:ext>
            </a:extLst>
          </p:cNvPr>
          <p:cNvSpPr/>
          <p:nvPr/>
        </p:nvSpPr>
        <p:spPr>
          <a:xfrm>
            <a:off x="9484653" y="4298375"/>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llipse 33">
            <a:extLst>
              <a:ext uri="{FF2B5EF4-FFF2-40B4-BE49-F238E27FC236}">
                <a16:creationId xmlns:a16="http://schemas.microsoft.com/office/drawing/2014/main" id="{37676A10-1027-D66A-7D9F-E24CAE417B0D}"/>
              </a:ext>
            </a:extLst>
          </p:cNvPr>
          <p:cNvSpPr/>
          <p:nvPr/>
        </p:nvSpPr>
        <p:spPr>
          <a:xfrm flipV="1">
            <a:off x="8847039" y="4481418"/>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Ellipse 34">
            <a:extLst>
              <a:ext uri="{FF2B5EF4-FFF2-40B4-BE49-F238E27FC236}">
                <a16:creationId xmlns:a16="http://schemas.microsoft.com/office/drawing/2014/main" id="{9CA52440-97E1-3E7C-0CE4-2C0EE82F541F}"/>
              </a:ext>
            </a:extLst>
          </p:cNvPr>
          <p:cNvSpPr/>
          <p:nvPr/>
        </p:nvSpPr>
        <p:spPr>
          <a:xfrm flipV="1">
            <a:off x="9063316" y="4572371"/>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Ellipse 35">
            <a:extLst>
              <a:ext uri="{FF2B5EF4-FFF2-40B4-BE49-F238E27FC236}">
                <a16:creationId xmlns:a16="http://schemas.microsoft.com/office/drawing/2014/main" id="{E3F81C50-1518-1B7C-215B-7A54DB04B58C}"/>
              </a:ext>
            </a:extLst>
          </p:cNvPr>
          <p:cNvSpPr/>
          <p:nvPr/>
        </p:nvSpPr>
        <p:spPr>
          <a:xfrm flipV="1">
            <a:off x="8914272" y="4636217"/>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llipse 36">
            <a:extLst>
              <a:ext uri="{FF2B5EF4-FFF2-40B4-BE49-F238E27FC236}">
                <a16:creationId xmlns:a16="http://schemas.microsoft.com/office/drawing/2014/main" id="{410D4A1D-8CE8-8A3A-388C-DEC0E303C070}"/>
              </a:ext>
            </a:extLst>
          </p:cNvPr>
          <p:cNvSpPr/>
          <p:nvPr/>
        </p:nvSpPr>
        <p:spPr>
          <a:xfrm flipV="1">
            <a:off x="8973657" y="4696649"/>
            <a:ext cx="107576" cy="107576"/>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C00000"/>
              </a:solidFill>
            </a:endParaRPr>
          </a:p>
        </p:txBody>
      </p:sp>
    </p:spTree>
    <p:extLst>
      <p:ext uri="{BB962C8B-B14F-4D97-AF65-F5344CB8AC3E}">
        <p14:creationId xmlns:p14="http://schemas.microsoft.com/office/powerpoint/2010/main" val="3527037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75E-6 -4.07407E-6 L 0.00703 0.02338 L 0.0164 0.04699 L 0.02526 0.07061 L 0.03359 0.08241 " pathEditMode="relative" rAng="0" ptsTypes="AAAAA">
                                      <p:cBhvr>
                                        <p:cTn id="6" dur="2000" fill="hold"/>
                                        <p:tgtEl>
                                          <p:spTgt spid="13"/>
                                        </p:tgtEl>
                                        <p:attrNameLst>
                                          <p:attrName>ppt_x</p:attrName>
                                          <p:attrName>ppt_y</p:attrName>
                                        </p:attrNameLst>
                                      </p:cBhvr>
                                      <p:rCtr x="1680" y="4120"/>
                                    </p:animMotion>
                                  </p:childTnLst>
                                </p:cTn>
                              </p:par>
                              <p:par>
                                <p:cTn id="7" presetID="0" presetClass="path" presetSubtype="0" accel="50000" decel="50000" fill="hold" grpId="0" nodeType="withEffect">
                                  <p:stCondLst>
                                    <p:cond delay="0"/>
                                  </p:stCondLst>
                                  <p:childTnLst>
                                    <p:animMotion origin="layout" path="M -6.25E-7 -1.85185E-6 L -0.00338 0.01991 L -0.00768 0.04051 L -0.01172 0.06111 L -0.01549 0.07176 " pathEditMode="relative" rAng="0" ptsTypes="AAAAA">
                                      <p:cBhvr>
                                        <p:cTn id="8" dur="2000" fill="hold"/>
                                        <p:tgtEl>
                                          <p:spTgt spid="17"/>
                                        </p:tgtEl>
                                        <p:attrNameLst>
                                          <p:attrName>ppt_x</p:attrName>
                                          <p:attrName>ppt_y</p:attrName>
                                        </p:attrNameLst>
                                      </p:cBhvr>
                                      <p:rCtr x="-781" y="3588"/>
                                    </p:animMotion>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p:cTn id="13" dur="500" fill="hold"/>
                                        <p:tgtEl>
                                          <p:spTgt spid="26"/>
                                        </p:tgtEl>
                                        <p:attrNameLst>
                                          <p:attrName>ppt_w</p:attrName>
                                        </p:attrNameLst>
                                      </p:cBhvr>
                                      <p:tavLst>
                                        <p:tav tm="0">
                                          <p:val>
                                            <p:fltVal val="0"/>
                                          </p:val>
                                        </p:tav>
                                        <p:tav tm="100000">
                                          <p:val>
                                            <p:strVal val="#ppt_w"/>
                                          </p:val>
                                        </p:tav>
                                      </p:tavLst>
                                    </p:anim>
                                    <p:anim calcmode="lin" valueType="num">
                                      <p:cBhvr>
                                        <p:cTn id="14" dur="500" fill="hold"/>
                                        <p:tgtEl>
                                          <p:spTgt spid="26"/>
                                        </p:tgtEl>
                                        <p:attrNameLst>
                                          <p:attrName>ppt_h</p:attrName>
                                        </p:attrNameLst>
                                      </p:cBhvr>
                                      <p:tavLst>
                                        <p:tav tm="0">
                                          <p:val>
                                            <p:fltVal val="0"/>
                                          </p:val>
                                        </p:tav>
                                        <p:tav tm="100000">
                                          <p:val>
                                            <p:strVal val="#ppt_h"/>
                                          </p:val>
                                        </p:tav>
                                      </p:tavLst>
                                    </p:anim>
                                    <p:animEffect transition="in" filter="fade">
                                      <p:cBhvr>
                                        <p:cTn id="15" dur="500"/>
                                        <p:tgtEl>
                                          <p:spTgt spid="26"/>
                                        </p:tgtEl>
                                      </p:cBhvr>
                                    </p:animEffect>
                                  </p:childTnLst>
                                </p:cTn>
                              </p:par>
                            </p:childTnLst>
                          </p:cTn>
                        </p:par>
                        <p:par>
                          <p:cTn id="16"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p:cTn id="19" dur="500" fill="hold"/>
                                        <p:tgtEl>
                                          <p:spTgt spid="28"/>
                                        </p:tgtEl>
                                        <p:attrNameLst>
                                          <p:attrName>ppt_w</p:attrName>
                                        </p:attrNameLst>
                                      </p:cBhvr>
                                      <p:tavLst>
                                        <p:tav tm="0">
                                          <p:val>
                                            <p:fltVal val="0"/>
                                          </p:val>
                                        </p:tav>
                                        <p:tav tm="100000">
                                          <p:val>
                                            <p:strVal val="#ppt_w"/>
                                          </p:val>
                                        </p:tav>
                                      </p:tavLst>
                                    </p:anim>
                                    <p:anim calcmode="lin" valueType="num">
                                      <p:cBhvr>
                                        <p:cTn id="20" dur="500" fill="hold"/>
                                        <p:tgtEl>
                                          <p:spTgt spid="28"/>
                                        </p:tgtEl>
                                        <p:attrNameLst>
                                          <p:attrName>ppt_h</p:attrName>
                                        </p:attrNameLst>
                                      </p:cBhvr>
                                      <p:tavLst>
                                        <p:tav tm="0">
                                          <p:val>
                                            <p:fltVal val="0"/>
                                          </p:val>
                                        </p:tav>
                                        <p:tav tm="100000">
                                          <p:val>
                                            <p:strVal val="#ppt_h"/>
                                          </p:val>
                                        </p:tav>
                                      </p:tavLst>
                                    </p:anim>
                                    <p:animEffect transition="in" filter="fade">
                                      <p:cBhvr>
                                        <p:cTn id="21" dur="500"/>
                                        <p:tgtEl>
                                          <p:spTgt spid="28"/>
                                        </p:tgtEl>
                                      </p:cBhvr>
                                    </p:animEffect>
                                  </p:childTnLst>
                                </p:cTn>
                              </p:par>
                            </p:childTnLst>
                          </p:cTn>
                        </p:par>
                        <p:par>
                          <p:cTn id="22" fill="hold">
                            <p:stCondLst>
                              <p:cond delay="1000"/>
                            </p:stCondLst>
                            <p:childTnLst>
                              <p:par>
                                <p:cTn id="23" presetID="53" presetClass="entr" presetSubtype="16" fill="hold" grpId="0" nodeType="after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p:cTn id="25" dur="500" fill="hold"/>
                                        <p:tgtEl>
                                          <p:spTgt spid="29"/>
                                        </p:tgtEl>
                                        <p:attrNameLst>
                                          <p:attrName>ppt_w</p:attrName>
                                        </p:attrNameLst>
                                      </p:cBhvr>
                                      <p:tavLst>
                                        <p:tav tm="0">
                                          <p:val>
                                            <p:fltVal val="0"/>
                                          </p:val>
                                        </p:tav>
                                        <p:tav tm="100000">
                                          <p:val>
                                            <p:strVal val="#ppt_w"/>
                                          </p:val>
                                        </p:tav>
                                      </p:tavLst>
                                    </p:anim>
                                    <p:anim calcmode="lin" valueType="num">
                                      <p:cBhvr>
                                        <p:cTn id="26" dur="500" fill="hold"/>
                                        <p:tgtEl>
                                          <p:spTgt spid="29"/>
                                        </p:tgtEl>
                                        <p:attrNameLst>
                                          <p:attrName>ppt_h</p:attrName>
                                        </p:attrNameLst>
                                      </p:cBhvr>
                                      <p:tavLst>
                                        <p:tav tm="0">
                                          <p:val>
                                            <p:fltVal val="0"/>
                                          </p:val>
                                        </p:tav>
                                        <p:tav tm="100000">
                                          <p:val>
                                            <p:strVal val="#ppt_h"/>
                                          </p:val>
                                        </p:tav>
                                      </p:tavLst>
                                    </p:anim>
                                    <p:animEffect transition="in" filter="fade">
                                      <p:cBhvr>
                                        <p:cTn id="27" dur="500"/>
                                        <p:tgtEl>
                                          <p:spTgt spid="29"/>
                                        </p:tgtEl>
                                      </p:cBhvr>
                                    </p:animEffect>
                                  </p:childTnLst>
                                </p:cTn>
                              </p:par>
                            </p:childTnLst>
                          </p:cTn>
                        </p:par>
                        <p:par>
                          <p:cTn id="28" fill="hold">
                            <p:stCondLst>
                              <p:cond delay="1500"/>
                            </p:stCondLst>
                            <p:childTnLst>
                              <p:par>
                                <p:cTn id="29" presetID="53" presetClass="entr" presetSubtype="16"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500" fill="hold"/>
                                        <p:tgtEl>
                                          <p:spTgt spid="30"/>
                                        </p:tgtEl>
                                        <p:attrNameLst>
                                          <p:attrName>ppt_w</p:attrName>
                                        </p:attrNameLst>
                                      </p:cBhvr>
                                      <p:tavLst>
                                        <p:tav tm="0">
                                          <p:val>
                                            <p:fltVal val="0"/>
                                          </p:val>
                                        </p:tav>
                                        <p:tav tm="100000">
                                          <p:val>
                                            <p:strVal val="#ppt_w"/>
                                          </p:val>
                                        </p:tav>
                                      </p:tavLst>
                                    </p:anim>
                                    <p:anim calcmode="lin" valueType="num">
                                      <p:cBhvr>
                                        <p:cTn id="32" dur="500" fill="hold"/>
                                        <p:tgtEl>
                                          <p:spTgt spid="30"/>
                                        </p:tgtEl>
                                        <p:attrNameLst>
                                          <p:attrName>ppt_h</p:attrName>
                                        </p:attrNameLst>
                                      </p:cBhvr>
                                      <p:tavLst>
                                        <p:tav tm="0">
                                          <p:val>
                                            <p:fltVal val="0"/>
                                          </p:val>
                                        </p:tav>
                                        <p:tav tm="100000">
                                          <p:val>
                                            <p:strVal val="#ppt_h"/>
                                          </p:val>
                                        </p:tav>
                                      </p:tavLst>
                                    </p:anim>
                                    <p:animEffect transition="in" filter="fade">
                                      <p:cBhvr>
                                        <p:cTn id="33" dur="500"/>
                                        <p:tgtEl>
                                          <p:spTgt spid="30"/>
                                        </p:tgtEl>
                                      </p:cBhvr>
                                    </p:animEffect>
                                  </p:childTnLst>
                                </p:cTn>
                              </p:par>
                            </p:childTnLst>
                          </p:cTn>
                        </p:par>
                        <p:par>
                          <p:cTn id="34" fill="hold">
                            <p:stCondLst>
                              <p:cond delay="2000"/>
                            </p:stCondLst>
                            <p:childTnLst>
                              <p:par>
                                <p:cTn id="35" presetID="53" presetClass="entr" presetSubtype="16" fill="hold" grpId="0" nodeType="after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p:cTn id="37" dur="500" fill="hold"/>
                                        <p:tgtEl>
                                          <p:spTgt spid="31"/>
                                        </p:tgtEl>
                                        <p:attrNameLst>
                                          <p:attrName>ppt_w</p:attrName>
                                        </p:attrNameLst>
                                      </p:cBhvr>
                                      <p:tavLst>
                                        <p:tav tm="0">
                                          <p:val>
                                            <p:fltVal val="0"/>
                                          </p:val>
                                        </p:tav>
                                        <p:tav tm="100000">
                                          <p:val>
                                            <p:strVal val="#ppt_w"/>
                                          </p:val>
                                        </p:tav>
                                      </p:tavLst>
                                    </p:anim>
                                    <p:anim calcmode="lin" valueType="num">
                                      <p:cBhvr>
                                        <p:cTn id="38" dur="500" fill="hold"/>
                                        <p:tgtEl>
                                          <p:spTgt spid="31"/>
                                        </p:tgtEl>
                                        <p:attrNameLst>
                                          <p:attrName>ppt_h</p:attrName>
                                        </p:attrNameLst>
                                      </p:cBhvr>
                                      <p:tavLst>
                                        <p:tav tm="0">
                                          <p:val>
                                            <p:fltVal val="0"/>
                                          </p:val>
                                        </p:tav>
                                        <p:tav tm="100000">
                                          <p:val>
                                            <p:strVal val="#ppt_h"/>
                                          </p:val>
                                        </p:tav>
                                      </p:tavLst>
                                    </p:anim>
                                    <p:animEffect transition="in" filter="fade">
                                      <p:cBhvr>
                                        <p:cTn id="39" dur="500"/>
                                        <p:tgtEl>
                                          <p:spTgt spid="31"/>
                                        </p:tgtEl>
                                      </p:cBhvr>
                                    </p:animEffect>
                                  </p:childTnLst>
                                </p:cTn>
                              </p:par>
                            </p:childTnLst>
                          </p:cTn>
                        </p:par>
                        <p:par>
                          <p:cTn id="40" fill="hold">
                            <p:stCondLst>
                              <p:cond delay="2500"/>
                            </p:stCondLst>
                            <p:childTnLst>
                              <p:par>
                                <p:cTn id="41" presetID="53" presetClass="entr" presetSubtype="16"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p:cTn id="43" dur="500" fill="hold"/>
                                        <p:tgtEl>
                                          <p:spTgt spid="32"/>
                                        </p:tgtEl>
                                        <p:attrNameLst>
                                          <p:attrName>ppt_w</p:attrName>
                                        </p:attrNameLst>
                                      </p:cBhvr>
                                      <p:tavLst>
                                        <p:tav tm="0">
                                          <p:val>
                                            <p:fltVal val="0"/>
                                          </p:val>
                                        </p:tav>
                                        <p:tav tm="100000">
                                          <p:val>
                                            <p:strVal val="#ppt_w"/>
                                          </p:val>
                                        </p:tav>
                                      </p:tavLst>
                                    </p:anim>
                                    <p:anim calcmode="lin" valueType="num">
                                      <p:cBhvr>
                                        <p:cTn id="44" dur="500" fill="hold"/>
                                        <p:tgtEl>
                                          <p:spTgt spid="32"/>
                                        </p:tgtEl>
                                        <p:attrNameLst>
                                          <p:attrName>ppt_h</p:attrName>
                                        </p:attrNameLst>
                                      </p:cBhvr>
                                      <p:tavLst>
                                        <p:tav tm="0">
                                          <p:val>
                                            <p:fltVal val="0"/>
                                          </p:val>
                                        </p:tav>
                                        <p:tav tm="100000">
                                          <p:val>
                                            <p:strVal val="#ppt_h"/>
                                          </p:val>
                                        </p:tav>
                                      </p:tavLst>
                                    </p:anim>
                                    <p:animEffect transition="in" filter="fade">
                                      <p:cBhvr>
                                        <p:cTn id="45" dur="500"/>
                                        <p:tgtEl>
                                          <p:spTgt spid="32"/>
                                        </p:tgtEl>
                                      </p:cBhvr>
                                    </p:animEffect>
                                  </p:childTnLst>
                                </p:cTn>
                              </p:par>
                            </p:childTnLst>
                          </p:cTn>
                        </p:par>
                        <p:par>
                          <p:cTn id="46" fill="hold">
                            <p:stCondLst>
                              <p:cond delay="3000"/>
                            </p:stCondLst>
                            <p:childTnLst>
                              <p:par>
                                <p:cTn id="47" presetID="53" presetClass="entr" presetSubtype="16" fill="hold" grpId="0" nodeType="after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p:cTn id="49" dur="500" fill="hold"/>
                                        <p:tgtEl>
                                          <p:spTgt spid="33"/>
                                        </p:tgtEl>
                                        <p:attrNameLst>
                                          <p:attrName>ppt_w</p:attrName>
                                        </p:attrNameLst>
                                      </p:cBhvr>
                                      <p:tavLst>
                                        <p:tav tm="0">
                                          <p:val>
                                            <p:fltVal val="0"/>
                                          </p:val>
                                        </p:tav>
                                        <p:tav tm="100000">
                                          <p:val>
                                            <p:strVal val="#ppt_w"/>
                                          </p:val>
                                        </p:tav>
                                      </p:tavLst>
                                    </p:anim>
                                    <p:anim calcmode="lin" valueType="num">
                                      <p:cBhvr>
                                        <p:cTn id="50" dur="500" fill="hold"/>
                                        <p:tgtEl>
                                          <p:spTgt spid="33"/>
                                        </p:tgtEl>
                                        <p:attrNameLst>
                                          <p:attrName>ppt_h</p:attrName>
                                        </p:attrNameLst>
                                      </p:cBhvr>
                                      <p:tavLst>
                                        <p:tav tm="0">
                                          <p:val>
                                            <p:fltVal val="0"/>
                                          </p:val>
                                        </p:tav>
                                        <p:tav tm="100000">
                                          <p:val>
                                            <p:strVal val="#ppt_h"/>
                                          </p:val>
                                        </p:tav>
                                      </p:tavLst>
                                    </p:anim>
                                    <p:animEffect transition="in" filter="fade">
                                      <p:cBhvr>
                                        <p:cTn id="51" dur="500"/>
                                        <p:tgtEl>
                                          <p:spTgt spid="33"/>
                                        </p:tgtEl>
                                      </p:cBhvr>
                                    </p:animEffect>
                                  </p:childTnLst>
                                </p:cTn>
                              </p:par>
                            </p:childTnLst>
                          </p:cTn>
                        </p:par>
                        <p:par>
                          <p:cTn id="52" fill="hold">
                            <p:stCondLst>
                              <p:cond delay="3500"/>
                            </p:stCondLst>
                            <p:childTnLst>
                              <p:par>
                                <p:cTn id="53" presetID="53" presetClass="entr" presetSubtype="16" fill="hold" grpId="0" nodeType="afterEffect">
                                  <p:stCondLst>
                                    <p:cond delay="0"/>
                                  </p:stCondLst>
                                  <p:childTnLst>
                                    <p:set>
                                      <p:cBhvr>
                                        <p:cTn id="54" dur="1" fill="hold">
                                          <p:stCondLst>
                                            <p:cond delay="0"/>
                                          </p:stCondLst>
                                        </p:cTn>
                                        <p:tgtEl>
                                          <p:spTgt spid="34"/>
                                        </p:tgtEl>
                                        <p:attrNameLst>
                                          <p:attrName>style.visibility</p:attrName>
                                        </p:attrNameLst>
                                      </p:cBhvr>
                                      <p:to>
                                        <p:strVal val="visible"/>
                                      </p:to>
                                    </p:set>
                                    <p:anim calcmode="lin" valueType="num">
                                      <p:cBhvr>
                                        <p:cTn id="55" dur="500" fill="hold"/>
                                        <p:tgtEl>
                                          <p:spTgt spid="34"/>
                                        </p:tgtEl>
                                        <p:attrNameLst>
                                          <p:attrName>ppt_w</p:attrName>
                                        </p:attrNameLst>
                                      </p:cBhvr>
                                      <p:tavLst>
                                        <p:tav tm="0">
                                          <p:val>
                                            <p:fltVal val="0"/>
                                          </p:val>
                                        </p:tav>
                                        <p:tav tm="100000">
                                          <p:val>
                                            <p:strVal val="#ppt_w"/>
                                          </p:val>
                                        </p:tav>
                                      </p:tavLst>
                                    </p:anim>
                                    <p:anim calcmode="lin" valueType="num">
                                      <p:cBhvr>
                                        <p:cTn id="56" dur="500" fill="hold"/>
                                        <p:tgtEl>
                                          <p:spTgt spid="34"/>
                                        </p:tgtEl>
                                        <p:attrNameLst>
                                          <p:attrName>ppt_h</p:attrName>
                                        </p:attrNameLst>
                                      </p:cBhvr>
                                      <p:tavLst>
                                        <p:tav tm="0">
                                          <p:val>
                                            <p:fltVal val="0"/>
                                          </p:val>
                                        </p:tav>
                                        <p:tav tm="100000">
                                          <p:val>
                                            <p:strVal val="#ppt_h"/>
                                          </p:val>
                                        </p:tav>
                                      </p:tavLst>
                                    </p:anim>
                                    <p:animEffect transition="in" filter="fade">
                                      <p:cBhvr>
                                        <p:cTn id="57" dur="500"/>
                                        <p:tgtEl>
                                          <p:spTgt spid="34"/>
                                        </p:tgtEl>
                                      </p:cBhvr>
                                    </p:animEffect>
                                  </p:childTnLst>
                                </p:cTn>
                              </p:par>
                            </p:childTnLst>
                          </p:cTn>
                        </p:par>
                        <p:par>
                          <p:cTn id="58" fill="hold">
                            <p:stCondLst>
                              <p:cond delay="4000"/>
                            </p:stCondLst>
                            <p:childTnLst>
                              <p:par>
                                <p:cTn id="59" presetID="53" presetClass="entr" presetSubtype="16" fill="hold" grpId="0" nodeType="afterEffect">
                                  <p:stCondLst>
                                    <p:cond delay="0"/>
                                  </p:stCondLst>
                                  <p:childTnLst>
                                    <p:set>
                                      <p:cBhvr>
                                        <p:cTn id="60" dur="1" fill="hold">
                                          <p:stCondLst>
                                            <p:cond delay="0"/>
                                          </p:stCondLst>
                                        </p:cTn>
                                        <p:tgtEl>
                                          <p:spTgt spid="35"/>
                                        </p:tgtEl>
                                        <p:attrNameLst>
                                          <p:attrName>style.visibility</p:attrName>
                                        </p:attrNameLst>
                                      </p:cBhvr>
                                      <p:to>
                                        <p:strVal val="visible"/>
                                      </p:to>
                                    </p:set>
                                    <p:anim calcmode="lin" valueType="num">
                                      <p:cBhvr>
                                        <p:cTn id="61" dur="500" fill="hold"/>
                                        <p:tgtEl>
                                          <p:spTgt spid="35"/>
                                        </p:tgtEl>
                                        <p:attrNameLst>
                                          <p:attrName>ppt_w</p:attrName>
                                        </p:attrNameLst>
                                      </p:cBhvr>
                                      <p:tavLst>
                                        <p:tav tm="0">
                                          <p:val>
                                            <p:fltVal val="0"/>
                                          </p:val>
                                        </p:tav>
                                        <p:tav tm="100000">
                                          <p:val>
                                            <p:strVal val="#ppt_w"/>
                                          </p:val>
                                        </p:tav>
                                      </p:tavLst>
                                    </p:anim>
                                    <p:anim calcmode="lin" valueType="num">
                                      <p:cBhvr>
                                        <p:cTn id="62" dur="500" fill="hold"/>
                                        <p:tgtEl>
                                          <p:spTgt spid="35"/>
                                        </p:tgtEl>
                                        <p:attrNameLst>
                                          <p:attrName>ppt_h</p:attrName>
                                        </p:attrNameLst>
                                      </p:cBhvr>
                                      <p:tavLst>
                                        <p:tav tm="0">
                                          <p:val>
                                            <p:fltVal val="0"/>
                                          </p:val>
                                        </p:tav>
                                        <p:tav tm="100000">
                                          <p:val>
                                            <p:strVal val="#ppt_h"/>
                                          </p:val>
                                        </p:tav>
                                      </p:tavLst>
                                    </p:anim>
                                    <p:animEffect transition="in" filter="fade">
                                      <p:cBhvr>
                                        <p:cTn id="63" dur="500"/>
                                        <p:tgtEl>
                                          <p:spTgt spid="35"/>
                                        </p:tgtEl>
                                      </p:cBhvr>
                                    </p:animEffect>
                                  </p:childTnLst>
                                </p:cTn>
                              </p:par>
                            </p:childTnLst>
                          </p:cTn>
                        </p:par>
                        <p:par>
                          <p:cTn id="64" fill="hold">
                            <p:stCondLst>
                              <p:cond delay="4500"/>
                            </p:stCondLst>
                            <p:childTnLst>
                              <p:par>
                                <p:cTn id="65" presetID="53" presetClass="entr" presetSubtype="16" fill="hold" grpId="0" nodeType="afterEffect">
                                  <p:stCondLst>
                                    <p:cond delay="0"/>
                                  </p:stCondLst>
                                  <p:childTnLst>
                                    <p:set>
                                      <p:cBhvr>
                                        <p:cTn id="66" dur="1" fill="hold">
                                          <p:stCondLst>
                                            <p:cond delay="0"/>
                                          </p:stCondLst>
                                        </p:cTn>
                                        <p:tgtEl>
                                          <p:spTgt spid="36"/>
                                        </p:tgtEl>
                                        <p:attrNameLst>
                                          <p:attrName>style.visibility</p:attrName>
                                        </p:attrNameLst>
                                      </p:cBhvr>
                                      <p:to>
                                        <p:strVal val="visible"/>
                                      </p:to>
                                    </p:set>
                                    <p:anim calcmode="lin" valueType="num">
                                      <p:cBhvr>
                                        <p:cTn id="67" dur="500" fill="hold"/>
                                        <p:tgtEl>
                                          <p:spTgt spid="36"/>
                                        </p:tgtEl>
                                        <p:attrNameLst>
                                          <p:attrName>ppt_w</p:attrName>
                                        </p:attrNameLst>
                                      </p:cBhvr>
                                      <p:tavLst>
                                        <p:tav tm="0">
                                          <p:val>
                                            <p:fltVal val="0"/>
                                          </p:val>
                                        </p:tav>
                                        <p:tav tm="100000">
                                          <p:val>
                                            <p:strVal val="#ppt_w"/>
                                          </p:val>
                                        </p:tav>
                                      </p:tavLst>
                                    </p:anim>
                                    <p:anim calcmode="lin" valueType="num">
                                      <p:cBhvr>
                                        <p:cTn id="68" dur="500" fill="hold"/>
                                        <p:tgtEl>
                                          <p:spTgt spid="36"/>
                                        </p:tgtEl>
                                        <p:attrNameLst>
                                          <p:attrName>ppt_h</p:attrName>
                                        </p:attrNameLst>
                                      </p:cBhvr>
                                      <p:tavLst>
                                        <p:tav tm="0">
                                          <p:val>
                                            <p:fltVal val="0"/>
                                          </p:val>
                                        </p:tav>
                                        <p:tav tm="100000">
                                          <p:val>
                                            <p:strVal val="#ppt_h"/>
                                          </p:val>
                                        </p:tav>
                                      </p:tavLst>
                                    </p:anim>
                                    <p:animEffect transition="in" filter="fade">
                                      <p:cBhvr>
                                        <p:cTn id="69" dur="500"/>
                                        <p:tgtEl>
                                          <p:spTgt spid="36"/>
                                        </p:tgtEl>
                                      </p:cBhvr>
                                    </p:animEffect>
                                  </p:childTnLst>
                                </p:cTn>
                              </p:par>
                            </p:childTnLst>
                          </p:cTn>
                        </p:par>
                        <p:par>
                          <p:cTn id="70" fill="hold">
                            <p:stCondLst>
                              <p:cond delay="5000"/>
                            </p:stCondLst>
                            <p:childTnLst>
                              <p:par>
                                <p:cTn id="71" presetID="53" presetClass="entr" presetSubtype="16" fill="hold" grpId="0" nodeType="afterEffect">
                                  <p:stCondLst>
                                    <p:cond delay="0"/>
                                  </p:stCondLst>
                                  <p:childTnLst>
                                    <p:set>
                                      <p:cBhvr>
                                        <p:cTn id="72" dur="1" fill="hold">
                                          <p:stCondLst>
                                            <p:cond delay="0"/>
                                          </p:stCondLst>
                                        </p:cTn>
                                        <p:tgtEl>
                                          <p:spTgt spid="37"/>
                                        </p:tgtEl>
                                        <p:attrNameLst>
                                          <p:attrName>style.visibility</p:attrName>
                                        </p:attrNameLst>
                                      </p:cBhvr>
                                      <p:to>
                                        <p:strVal val="visible"/>
                                      </p:to>
                                    </p:set>
                                    <p:anim calcmode="lin" valueType="num">
                                      <p:cBhvr>
                                        <p:cTn id="73" dur="500" fill="hold"/>
                                        <p:tgtEl>
                                          <p:spTgt spid="37"/>
                                        </p:tgtEl>
                                        <p:attrNameLst>
                                          <p:attrName>ppt_w</p:attrName>
                                        </p:attrNameLst>
                                      </p:cBhvr>
                                      <p:tavLst>
                                        <p:tav tm="0">
                                          <p:val>
                                            <p:fltVal val="0"/>
                                          </p:val>
                                        </p:tav>
                                        <p:tav tm="100000">
                                          <p:val>
                                            <p:strVal val="#ppt_w"/>
                                          </p:val>
                                        </p:tav>
                                      </p:tavLst>
                                    </p:anim>
                                    <p:anim calcmode="lin" valueType="num">
                                      <p:cBhvr>
                                        <p:cTn id="74" dur="500" fill="hold"/>
                                        <p:tgtEl>
                                          <p:spTgt spid="37"/>
                                        </p:tgtEl>
                                        <p:attrNameLst>
                                          <p:attrName>ppt_h</p:attrName>
                                        </p:attrNameLst>
                                      </p:cBhvr>
                                      <p:tavLst>
                                        <p:tav tm="0">
                                          <p:val>
                                            <p:fltVal val="0"/>
                                          </p:val>
                                        </p:tav>
                                        <p:tav tm="100000">
                                          <p:val>
                                            <p:strVal val="#ppt_h"/>
                                          </p:val>
                                        </p:tav>
                                      </p:tavLst>
                                    </p:anim>
                                    <p:animEffect transition="in" filter="fade">
                                      <p:cBhvr>
                                        <p:cTn id="7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58A2F2-DA52-C578-BAFA-9685E32A20E1}"/>
              </a:ext>
            </a:extLst>
          </p:cNvPr>
          <p:cNvSpPr>
            <a:spLocks noGrp="1"/>
          </p:cNvSpPr>
          <p:nvPr>
            <p:ph type="title"/>
          </p:nvPr>
        </p:nvSpPr>
        <p:spPr/>
        <p:txBody>
          <a:bodyPr/>
          <a:lstStyle/>
          <a:p>
            <a:r>
              <a:rPr lang="fr-CA" dirty="0"/>
              <a:t>Méthodologie d’optimisation (3/4)</a:t>
            </a:r>
            <a:endParaRPr lang="fr-FR" dirty="0"/>
          </a:p>
        </p:txBody>
      </p:sp>
      <p:sp>
        <p:nvSpPr>
          <p:cNvPr id="3" name="Espace réservé du contenu 2">
            <a:extLst>
              <a:ext uri="{FF2B5EF4-FFF2-40B4-BE49-F238E27FC236}">
                <a16:creationId xmlns:a16="http://schemas.microsoft.com/office/drawing/2014/main" id="{567C808A-92F8-206A-AD48-39A407FEA1AC}"/>
              </a:ext>
            </a:extLst>
          </p:cNvPr>
          <p:cNvSpPr>
            <a:spLocks noGrp="1"/>
          </p:cNvSpPr>
          <p:nvPr>
            <p:ph sz="half" idx="1"/>
          </p:nvPr>
        </p:nvSpPr>
        <p:spPr>
          <a:xfrm>
            <a:off x="838200" y="1825625"/>
            <a:ext cx="5181600" cy="4667250"/>
          </a:xfrm>
        </p:spPr>
        <p:txBody>
          <a:bodyPr>
            <a:normAutofit/>
          </a:bodyPr>
          <a:lstStyle/>
          <a:p>
            <a:pPr marL="514350" indent="-514350">
              <a:buFont typeface="+mj-lt"/>
              <a:buAutoNum type="arabicPeriod" startAt="2"/>
            </a:pPr>
            <a:r>
              <a:rPr lang="fr-CA" sz="1800" b="1" dirty="0"/>
              <a:t>Définir une méthode d’optimisation (2/2)</a:t>
            </a:r>
          </a:p>
          <a:p>
            <a:pPr lvl="1"/>
            <a:r>
              <a:rPr lang="fr-CA" sz="1800" dirty="0"/>
              <a:t>Technique explicite</a:t>
            </a:r>
          </a:p>
          <a:p>
            <a:pPr lvl="2"/>
            <a:r>
              <a:rPr lang="fr-CA" sz="1400" dirty="0"/>
              <a:t>Lente (surtout si plus de 2 paramètres à optimiser)</a:t>
            </a:r>
          </a:p>
          <a:p>
            <a:pPr lvl="2"/>
            <a:r>
              <a:rPr lang="fr-CA" sz="1400" dirty="0"/>
              <a:t>Explore tout le domaine de recherche</a:t>
            </a:r>
          </a:p>
          <a:p>
            <a:pPr lvl="2"/>
            <a:r>
              <a:rPr lang="fr-CA" sz="1400" dirty="0"/>
              <a:t>La solution trouvée est en général globale.</a:t>
            </a:r>
          </a:p>
          <a:p>
            <a:pPr lvl="2"/>
            <a:r>
              <a:rPr lang="fr-CA" sz="1400" dirty="0"/>
              <a:t>Exemples:</a:t>
            </a:r>
          </a:p>
          <a:p>
            <a:pPr lvl="3"/>
            <a:r>
              <a:rPr lang="fr-CA" sz="1200" dirty="0"/>
              <a:t>Des boucles dans des boucles …</a:t>
            </a:r>
          </a:p>
          <a:p>
            <a:pPr lvl="3"/>
            <a:r>
              <a:rPr lang="fr-CA" sz="1200" dirty="0"/>
              <a:t>Intéressant quand pas beaucoup de paramètres à optimiser et si le pas (l’incrément) est grand pour chacun.</a:t>
            </a:r>
          </a:p>
        </p:txBody>
      </p:sp>
      <p:sp>
        <p:nvSpPr>
          <p:cNvPr id="22" name="Forme libre : forme 21">
            <a:extLst>
              <a:ext uri="{FF2B5EF4-FFF2-40B4-BE49-F238E27FC236}">
                <a16:creationId xmlns:a16="http://schemas.microsoft.com/office/drawing/2014/main" id="{85372AC7-2453-1058-8537-00D16D58ECB1}"/>
              </a:ext>
            </a:extLst>
          </p:cNvPr>
          <p:cNvSpPr/>
          <p:nvPr/>
        </p:nvSpPr>
        <p:spPr>
          <a:xfrm>
            <a:off x="7420534" y="1825626"/>
            <a:ext cx="2440641" cy="1025308"/>
          </a:xfrm>
          <a:custGeom>
            <a:avLst/>
            <a:gdLst>
              <a:gd name="connsiteX0" fmla="*/ 0 w 1936376"/>
              <a:gd name="connsiteY0" fmla="*/ 0 h 941451"/>
              <a:gd name="connsiteX1" fmla="*/ 423582 w 1936376"/>
              <a:gd name="connsiteY1" fmla="*/ 652183 h 941451"/>
              <a:gd name="connsiteX2" fmla="*/ 826994 w 1936376"/>
              <a:gd name="connsiteY2" fmla="*/ 255494 h 941451"/>
              <a:gd name="connsiteX3" fmla="*/ 1216959 w 1936376"/>
              <a:gd name="connsiteY3" fmla="*/ 941294 h 941451"/>
              <a:gd name="connsiteX4" fmla="*/ 1479176 w 1936376"/>
              <a:gd name="connsiteY4" fmla="*/ 322730 h 941451"/>
              <a:gd name="connsiteX5" fmla="*/ 1653988 w 1936376"/>
              <a:gd name="connsiteY5" fmla="*/ 712694 h 941451"/>
              <a:gd name="connsiteX6" fmla="*/ 1936376 w 1936376"/>
              <a:gd name="connsiteY6" fmla="*/ 174812 h 94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6376" h="941451">
                <a:moveTo>
                  <a:pt x="0" y="0"/>
                </a:moveTo>
                <a:cubicBezTo>
                  <a:pt x="142875" y="304800"/>
                  <a:pt x="285750" y="609601"/>
                  <a:pt x="423582" y="652183"/>
                </a:cubicBezTo>
                <a:cubicBezTo>
                  <a:pt x="561414" y="694765"/>
                  <a:pt x="694765" y="207309"/>
                  <a:pt x="826994" y="255494"/>
                </a:cubicBezTo>
                <a:cubicBezTo>
                  <a:pt x="959223" y="303679"/>
                  <a:pt x="1108262" y="930088"/>
                  <a:pt x="1216959" y="941294"/>
                </a:cubicBezTo>
                <a:cubicBezTo>
                  <a:pt x="1325656" y="952500"/>
                  <a:pt x="1406338" y="360830"/>
                  <a:pt x="1479176" y="322730"/>
                </a:cubicBezTo>
                <a:cubicBezTo>
                  <a:pt x="1552014" y="284630"/>
                  <a:pt x="1577788" y="737347"/>
                  <a:pt x="1653988" y="712694"/>
                </a:cubicBezTo>
                <a:cubicBezTo>
                  <a:pt x="1730188" y="688041"/>
                  <a:pt x="1833282" y="431426"/>
                  <a:pt x="1936376" y="17481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DFA29026-656F-2013-EE09-7430ABA8B6E9}"/>
              </a:ext>
            </a:extLst>
          </p:cNvPr>
          <p:cNvSpPr/>
          <p:nvPr/>
        </p:nvSpPr>
        <p:spPr>
          <a:xfrm>
            <a:off x="7460875" y="1825625"/>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llipse 3">
            <a:extLst>
              <a:ext uri="{FF2B5EF4-FFF2-40B4-BE49-F238E27FC236}">
                <a16:creationId xmlns:a16="http://schemas.microsoft.com/office/drawing/2014/main" id="{EE4A99D9-C400-1B90-7B95-236BC41DD77A}"/>
              </a:ext>
            </a:extLst>
          </p:cNvPr>
          <p:cNvSpPr/>
          <p:nvPr/>
        </p:nvSpPr>
        <p:spPr>
          <a:xfrm>
            <a:off x="7670527" y="2156618"/>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9980E67F-E757-022C-591A-BEA852F26795}"/>
              </a:ext>
            </a:extLst>
          </p:cNvPr>
          <p:cNvSpPr/>
          <p:nvPr/>
        </p:nvSpPr>
        <p:spPr>
          <a:xfrm>
            <a:off x="7880179" y="2406650"/>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llipse 5">
            <a:extLst>
              <a:ext uri="{FF2B5EF4-FFF2-40B4-BE49-F238E27FC236}">
                <a16:creationId xmlns:a16="http://schemas.microsoft.com/office/drawing/2014/main" id="{D9A2209A-F7B5-1157-5C5A-CD42964CD141}"/>
              </a:ext>
            </a:extLst>
          </p:cNvPr>
          <p:cNvSpPr/>
          <p:nvPr/>
        </p:nvSpPr>
        <p:spPr>
          <a:xfrm>
            <a:off x="8089831" y="2264194"/>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9ECC6AD1-1B8C-97C2-FC9B-54A00777B5A8}"/>
              </a:ext>
            </a:extLst>
          </p:cNvPr>
          <p:cNvSpPr/>
          <p:nvPr/>
        </p:nvSpPr>
        <p:spPr>
          <a:xfrm>
            <a:off x="8299483" y="1999456"/>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45672BCE-9AF9-10AD-4187-488D666693CC}"/>
              </a:ext>
            </a:extLst>
          </p:cNvPr>
          <p:cNvSpPr/>
          <p:nvPr/>
        </p:nvSpPr>
        <p:spPr>
          <a:xfrm>
            <a:off x="8509135" y="2049042"/>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D801B967-0AA1-7C7A-7707-BF601321F5F5}"/>
              </a:ext>
            </a:extLst>
          </p:cNvPr>
          <p:cNvSpPr/>
          <p:nvPr/>
        </p:nvSpPr>
        <p:spPr>
          <a:xfrm>
            <a:off x="8718787" y="2406650"/>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AC9C203-7D49-94BB-953E-C1EFBBACD06A}"/>
              </a:ext>
            </a:extLst>
          </p:cNvPr>
          <p:cNvSpPr/>
          <p:nvPr/>
        </p:nvSpPr>
        <p:spPr>
          <a:xfrm>
            <a:off x="8928439" y="2704306"/>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01ED2B03-E2FA-F7E1-80E1-3D7722C4C72C}"/>
              </a:ext>
            </a:extLst>
          </p:cNvPr>
          <p:cNvSpPr/>
          <p:nvPr/>
        </p:nvSpPr>
        <p:spPr>
          <a:xfrm>
            <a:off x="9138091" y="2135468"/>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CD12FCBF-B39F-99A9-4B27-AFA3EA941641}"/>
              </a:ext>
            </a:extLst>
          </p:cNvPr>
          <p:cNvSpPr/>
          <p:nvPr/>
        </p:nvSpPr>
        <p:spPr>
          <a:xfrm>
            <a:off x="9347743" y="2156618"/>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147C248A-D285-85E0-4066-584DE8ABCEA8}"/>
              </a:ext>
            </a:extLst>
          </p:cNvPr>
          <p:cNvSpPr/>
          <p:nvPr/>
        </p:nvSpPr>
        <p:spPr>
          <a:xfrm>
            <a:off x="9557395" y="2349112"/>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390C0526-5046-FD7F-7DEE-2B29EE243B31}"/>
              </a:ext>
            </a:extLst>
          </p:cNvPr>
          <p:cNvSpPr/>
          <p:nvPr/>
        </p:nvSpPr>
        <p:spPr>
          <a:xfrm>
            <a:off x="9767047" y="1941466"/>
            <a:ext cx="107576" cy="107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590E242F-F77C-95E9-CA5F-BD99B8D0B073}"/>
              </a:ext>
            </a:extLst>
          </p:cNvPr>
          <p:cNvSpPr/>
          <p:nvPr/>
        </p:nvSpPr>
        <p:spPr>
          <a:xfrm>
            <a:off x="8928439" y="2704306"/>
            <a:ext cx="107576" cy="107576"/>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200639F2-ACF4-9168-F801-0F8F7915927B}"/>
                  </a:ext>
                </a:extLst>
              </p:cNvPr>
              <p:cNvSpPr txBox="1"/>
              <p:nvPr/>
            </p:nvSpPr>
            <p:spPr>
              <a:xfrm>
                <a:off x="6343292" y="3095250"/>
                <a:ext cx="5385445" cy="3785652"/>
              </a:xfrm>
              <a:prstGeom prst="rect">
                <a:avLst/>
              </a:prstGeom>
              <a:noFill/>
            </p:spPr>
            <p:txBody>
              <a:bodyPr wrap="square">
                <a:spAutoFit/>
              </a:bodyPr>
              <a:lstStyle/>
              <a:p>
                <a:pPr>
                  <a:lnSpc>
                    <a:spcPts val="1800"/>
                  </a:lnSpc>
                </a:pPr>
                <a:r>
                  <a:rPr lang="fr-CA" sz="1600" b="0" i="0" dirty="0">
                    <a:solidFill>
                      <a:srgbClr val="008013"/>
                    </a:solidFill>
                    <a:effectLst/>
                    <a:latin typeface="Menlo"/>
                  </a:rPr>
                  <a:t>%% Algorithme d'optimisation - Explicite</a:t>
                </a:r>
                <a:endParaRPr lang="fr-CA" sz="1600" b="0" i="0" dirty="0">
                  <a:effectLst/>
                  <a:latin typeface="Menlo"/>
                </a:endParaRPr>
              </a:p>
              <a:p>
                <a:pPr>
                  <a:lnSpc>
                    <a:spcPts val="1800"/>
                  </a:lnSpc>
                </a:pPr>
                <a:r>
                  <a:rPr lang="fr-CA" sz="1600" b="0" i="0" dirty="0">
                    <a:solidFill>
                      <a:srgbClr val="008013"/>
                    </a:solidFill>
                    <a:effectLst/>
                    <a:latin typeface="Menlo"/>
                  </a:rPr>
                  <a:t>% Objectif: Maximiser la fonction de transfert H(</a:t>
                </a:r>
                <a:r>
                  <a:rPr lang="fr-CA" sz="1600" b="0" i="0" dirty="0" err="1">
                    <a:solidFill>
                      <a:srgbClr val="008013"/>
                    </a:solidFill>
                    <a:effectLst/>
                    <a:latin typeface="Menlo"/>
                  </a:rPr>
                  <a:t>theta</a:t>
                </a:r>
                <a:r>
                  <a:rPr lang="fr-CA" sz="1600" b="0" i="0" dirty="0">
                    <a:solidFill>
                      <a:srgbClr val="008013"/>
                    </a:solidFill>
                    <a:effectLst/>
                    <a:latin typeface="Menlo"/>
                  </a:rPr>
                  <a:t>)</a:t>
                </a:r>
                <a:endParaRPr lang="fr-CA" sz="1600" b="0" i="0" dirty="0">
                  <a:effectLst/>
                  <a:latin typeface="Menlo"/>
                </a:endParaRPr>
              </a:p>
              <a:p>
                <a:pPr>
                  <a:lnSpc>
                    <a:spcPts val="1800"/>
                  </a:lnSpc>
                </a:pPr>
                <a:r>
                  <a:rPr lang="fr-CA" sz="1600" b="0" i="0" dirty="0">
                    <a:solidFill>
                      <a:srgbClr val="008013"/>
                    </a:solidFill>
                    <a:effectLst/>
                    <a:latin typeface="Menlo"/>
                  </a:rPr>
                  <a:t>% Fonction coût:</a:t>
                </a:r>
              </a:p>
              <a:p>
                <a:pPr>
                  <a:lnSpc>
                    <a:spcPts val="1800"/>
                  </a:lnSpc>
                </a:pPr>
                <a:endParaRPr lang="fr-CA" sz="1600" b="0" i="0" dirty="0">
                  <a:effectLst/>
                  <a:latin typeface="Menlo"/>
                </a:endParaRPr>
              </a:p>
              <a:p>
                <a:pPr>
                  <a:lnSpc>
                    <a:spcPts val="1800"/>
                  </a:lnSpc>
                </a:pPr>
                <a:r>
                  <a:rPr lang="fr-CA" sz="1600" b="0" i="0" dirty="0">
                    <a:solidFill>
                      <a:srgbClr val="008013"/>
                    </a:solidFill>
                    <a:effectLst/>
                    <a:latin typeface="Menlo"/>
                  </a:rPr>
                  <a:t>% </a:t>
                </a:r>
                <a:r>
                  <a:rPr lang="fr-CA" sz="1600" dirty="0">
                    <a:solidFill>
                      <a:srgbClr val="0000CC"/>
                    </a:solidFill>
                    <a:ea typeface="Cambria Math" panose="02040503050406030204" pitchFamily="18" charset="0"/>
                  </a:rPr>
                  <a:t> </a:t>
                </a:r>
                <a14:m>
                  <m:oMath xmlns:m="http://schemas.openxmlformats.org/officeDocument/2006/math">
                    <m:r>
                      <a:rPr lang="fr-CA" sz="1600" i="1" smtClean="0">
                        <a:solidFill>
                          <a:srgbClr val="0000CC"/>
                        </a:solidFill>
                        <a:latin typeface="Cambria Math" panose="02040503050406030204" pitchFamily="18" charset="0"/>
                        <a:ea typeface="Cambria Math" panose="02040503050406030204" pitchFamily="18" charset="0"/>
                      </a:rPr>
                      <m:t>𝐻</m:t>
                    </m:r>
                    <m:d>
                      <m:dPr>
                        <m:ctrlPr>
                          <a:rPr lang="fr-CA" sz="1600" i="1">
                            <a:solidFill>
                              <a:srgbClr val="0000CC"/>
                            </a:solidFill>
                            <a:latin typeface="Cambria Math" panose="02040503050406030204" pitchFamily="18" charset="0"/>
                            <a:ea typeface="Cambria Math" panose="02040503050406030204" pitchFamily="18" charset="0"/>
                          </a:rPr>
                        </m:ctrlPr>
                      </m:dPr>
                      <m:e>
                        <m:r>
                          <a:rPr lang="fr-CA" sz="1600" i="1">
                            <a:solidFill>
                              <a:srgbClr val="0000CC"/>
                            </a:solidFill>
                            <a:latin typeface="Cambria Math" panose="02040503050406030204" pitchFamily="18" charset="0"/>
                            <a:ea typeface="Cambria Math" panose="02040503050406030204" pitchFamily="18" charset="0"/>
                          </a:rPr>
                          <m:t>𝜃</m:t>
                        </m:r>
                      </m:e>
                    </m:d>
                    <m:r>
                      <a:rPr lang="fr-CA" sz="1600" i="1">
                        <a:solidFill>
                          <a:srgbClr val="0000CC"/>
                        </a:solidFill>
                        <a:latin typeface="Cambria Math" panose="02040503050406030204" pitchFamily="18" charset="0"/>
                        <a:ea typeface="Cambria Math" panose="02040503050406030204" pitchFamily="18" charset="0"/>
                      </a:rPr>
                      <m:t>=</m:t>
                    </m:r>
                    <m:r>
                      <m:rPr>
                        <m:nor/>
                      </m:rPr>
                      <a:rPr lang="fr-CA" sz="1600" dirty="0">
                        <a:solidFill>
                          <a:srgbClr val="0000CC"/>
                        </a:solidFill>
                        <a:ea typeface="Cambria Math" panose="02040503050406030204" pitchFamily="18" charset="0"/>
                      </a:rPr>
                      <m:t> </m:t>
                    </m:r>
                    <m:f>
                      <m:fPr>
                        <m:ctrlPr>
                          <a:rPr lang="fr-CA" sz="1600" i="1">
                            <a:solidFill>
                              <a:srgbClr val="0000CC"/>
                            </a:solidFill>
                            <a:latin typeface="Cambria Math" panose="02040503050406030204" pitchFamily="18" charset="0"/>
                            <a:ea typeface="Cambria Math" panose="02040503050406030204" pitchFamily="18" charset="0"/>
                          </a:rPr>
                        </m:ctrlPr>
                      </m:fPr>
                      <m:num>
                        <m:sSub>
                          <m:sSubPr>
                            <m:ctrlPr>
                              <a:rPr lang="fr-CA" sz="1600" i="1">
                                <a:solidFill>
                                  <a:srgbClr val="0000CC"/>
                                </a:solidFill>
                                <a:latin typeface="Cambria Math" panose="02040503050406030204" pitchFamily="18" charset="0"/>
                                <a:ea typeface="Cambria Math" panose="02040503050406030204" pitchFamily="18" charset="0"/>
                              </a:rPr>
                            </m:ctrlPr>
                          </m:sSubPr>
                          <m:e>
                            <m:r>
                              <a:rPr lang="fr-CA" sz="1600" i="1">
                                <a:solidFill>
                                  <a:srgbClr val="0000CC"/>
                                </a:solidFill>
                                <a:latin typeface="Cambria Math" panose="02040503050406030204" pitchFamily="18" charset="0"/>
                                <a:ea typeface="Cambria Math" panose="02040503050406030204" pitchFamily="18" charset="0"/>
                              </a:rPr>
                              <m:t>𝑙</m:t>
                            </m:r>
                          </m:e>
                          <m:sub>
                            <m:r>
                              <a:rPr lang="fr-CA" sz="1600" i="1">
                                <a:solidFill>
                                  <a:srgbClr val="0000CC"/>
                                </a:solidFill>
                                <a:latin typeface="Cambria Math" panose="02040503050406030204" pitchFamily="18" charset="0"/>
                                <a:ea typeface="Cambria Math" panose="02040503050406030204" pitchFamily="18" charset="0"/>
                              </a:rPr>
                              <m:t>1</m:t>
                            </m:r>
                          </m:sub>
                        </m:sSub>
                      </m:num>
                      <m:den>
                        <m:sSub>
                          <m:sSubPr>
                            <m:ctrlPr>
                              <a:rPr lang="fr-CA" sz="1600" i="1">
                                <a:solidFill>
                                  <a:srgbClr val="0000CC"/>
                                </a:solidFill>
                                <a:latin typeface="Cambria Math" panose="02040503050406030204" pitchFamily="18" charset="0"/>
                                <a:ea typeface="Cambria Math" panose="02040503050406030204" pitchFamily="18" charset="0"/>
                              </a:rPr>
                            </m:ctrlPr>
                          </m:sSubPr>
                          <m:e>
                            <m:r>
                              <a:rPr lang="fr-CA" sz="1600" i="1">
                                <a:solidFill>
                                  <a:srgbClr val="0000CC"/>
                                </a:solidFill>
                                <a:latin typeface="Cambria Math" panose="02040503050406030204" pitchFamily="18" charset="0"/>
                                <a:ea typeface="Cambria Math" panose="02040503050406030204" pitchFamily="18" charset="0"/>
                              </a:rPr>
                              <m:t>𝑙</m:t>
                            </m:r>
                          </m:e>
                          <m:sub>
                            <m:r>
                              <a:rPr lang="fr-CA" sz="1600" i="1">
                                <a:solidFill>
                                  <a:srgbClr val="0000CC"/>
                                </a:solidFill>
                                <a:latin typeface="Cambria Math" panose="02040503050406030204" pitchFamily="18" charset="0"/>
                                <a:ea typeface="Cambria Math" panose="02040503050406030204" pitchFamily="18" charset="0"/>
                              </a:rPr>
                              <m:t>2</m:t>
                            </m:r>
                          </m:sub>
                        </m:sSub>
                      </m:den>
                    </m:f>
                    <m:r>
                      <a:rPr lang="fr-CA" sz="1600" i="1">
                        <a:solidFill>
                          <a:srgbClr val="0000CC"/>
                        </a:solidFill>
                        <a:latin typeface="Cambria Math" panose="02040503050406030204" pitchFamily="18" charset="0"/>
                        <a:ea typeface="Cambria Math" panose="02040503050406030204" pitchFamily="18" charset="0"/>
                      </a:rPr>
                      <m:t>𝑐𝑜𝑠</m:t>
                    </m:r>
                    <m:r>
                      <a:rPr lang="fr-CA" sz="1600" i="1">
                        <a:solidFill>
                          <a:srgbClr val="0000CC"/>
                        </a:solidFill>
                        <a:latin typeface="Cambria Math" panose="02040503050406030204" pitchFamily="18" charset="0"/>
                        <a:ea typeface="Cambria Math" panose="02040503050406030204" pitchFamily="18" charset="0"/>
                      </a:rPr>
                      <m:t>𝜃</m:t>
                    </m:r>
                    <m:r>
                      <a:rPr lang="fr-CA" sz="1600" i="1">
                        <a:solidFill>
                          <a:srgbClr val="0000CC"/>
                        </a:solidFill>
                        <a:latin typeface="Cambria Math" panose="02040503050406030204" pitchFamily="18" charset="0"/>
                        <a:ea typeface="Cambria Math" panose="02040503050406030204" pitchFamily="18" charset="0"/>
                      </a:rPr>
                      <m:t>𝑠𝑖𝑛</m:t>
                    </m:r>
                    <m:r>
                      <a:rPr lang="fr-CA" sz="1600" i="1">
                        <a:solidFill>
                          <a:srgbClr val="0000CC"/>
                        </a:solidFill>
                        <a:latin typeface="Cambria Math" panose="02040503050406030204" pitchFamily="18" charset="0"/>
                        <a:ea typeface="Cambria Math" panose="02040503050406030204" pitchFamily="18" charset="0"/>
                      </a:rPr>
                      <m:t>𝜃</m:t>
                    </m:r>
                  </m:oMath>
                </a14:m>
                <a:endParaRPr lang="fr-CA" sz="1600" b="0" i="0" dirty="0">
                  <a:effectLst/>
                  <a:latin typeface="Menlo"/>
                </a:endParaRPr>
              </a:p>
              <a:p>
                <a:pPr>
                  <a:lnSpc>
                    <a:spcPts val="1800"/>
                  </a:lnSpc>
                </a:pPr>
                <a:endParaRPr lang="fr-CA" sz="1600" b="0" i="0" dirty="0">
                  <a:effectLst/>
                  <a:latin typeface="Menlo"/>
                </a:endParaRPr>
              </a:p>
              <a:p>
                <a:pPr>
                  <a:lnSpc>
                    <a:spcPts val="1800"/>
                  </a:lnSpc>
                </a:pPr>
                <a:r>
                  <a:rPr lang="fr-CA" sz="1600" b="0" i="0" dirty="0" err="1">
                    <a:effectLst/>
                    <a:latin typeface="Menlo"/>
                  </a:rPr>
                  <a:t>H_max</a:t>
                </a:r>
                <a:r>
                  <a:rPr lang="fr-CA" sz="1600" b="0" i="0" dirty="0">
                    <a:effectLst/>
                    <a:latin typeface="Menlo"/>
                  </a:rPr>
                  <a:t> = -</a:t>
                </a:r>
                <a:r>
                  <a:rPr lang="fr-CA" sz="1600" b="0" i="0" dirty="0" err="1">
                    <a:effectLst/>
                    <a:latin typeface="Menlo"/>
                  </a:rPr>
                  <a:t>inf</a:t>
                </a:r>
                <a:r>
                  <a:rPr lang="fr-CA" sz="1600" b="0" i="0" dirty="0">
                    <a:effectLst/>
                    <a:latin typeface="Menlo"/>
                  </a:rPr>
                  <a:t>;</a:t>
                </a:r>
              </a:p>
              <a:p>
                <a:pPr>
                  <a:lnSpc>
                    <a:spcPts val="1800"/>
                  </a:lnSpc>
                </a:pPr>
                <a:r>
                  <a:rPr lang="fr-CA" sz="1600" b="0" i="0" dirty="0" err="1">
                    <a:effectLst/>
                    <a:latin typeface="Menlo"/>
                  </a:rPr>
                  <a:t>theta</a:t>
                </a:r>
                <a:r>
                  <a:rPr lang="fr-CA" sz="1600" b="0" i="0" dirty="0">
                    <a:effectLst/>
                    <a:latin typeface="Menlo"/>
                  </a:rPr>
                  <a:t> = </a:t>
                </a:r>
                <a:r>
                  <a:rPr lang="fr-CA" sz="1600" b="0" i="0" dirty="0" err="1">
                    <a:effectLst/>
                    <a:latin typeface="Menlo"/>
                  </a:rPr>
                  <a:t>lim_theta</a:t>
                </a:r>
                <a:r>
                  <a:rPr lang="fr-CA" sz="1600" b="0" i="0" dirty="0">
                    <a:effectLst/>
                    <a:latin typeface="Menlo"/>
                  </a:rPr>
                  <a:t>(1) : </a:t>
                </a:r>
                <a:r>
                  <a:rPr lang="fr-CA" sz="1600" b="0" i="0" dirty="0" err="1">
                    <a:effectLst/>
                    <a:latin typeface="Menlo"/>
                  </a:rPr>
                  <a:t>pas_theta</a:t>
                </a:r>
                <a:r>
                  <a:rPr lang="fr-CA" sz="1600" b="0" i="0" dirty="0">
                    <a:effectLst/>
                    <a:latin typeface="Menlo"/>
                  </a:rPr>
                  <a:t> : </a:t>
                </a:r>
                <a:r>
                  <a:rPr lang="fr-CA" sz="1600" b="0" i="0" dirty="0" err="1">
                    <a:effectLst/>
                    <a:latin typeface="Menlo"/>
                  </a:rPr>
                  <a:t>lim_theta</a:t>
                </a:r>
                <a:r>
                  <a:rPr lang="fr-CA" sz="1600" b="0" i="0" dirty="0">
                    <a:effectLst/>
                    <a:latin typeface="Menlo"/>
                  </a:rPr>
                  <a:t>(2);</a:t>
                </a:r>
              </a:p>
              <a:p>
                <a:pPr>
                  <a:lnSpc>
                    <a:spcPts val="1800"/>
                  </a:lnSpc>
                </a:pPr>
                <a:r>
                  <a:rPr lang="fr-CA" sz="1600" b="0" i="0" dirty="0">
                    <a:effectLst/>
                    <a:latin typeface="Menlo"/>
                  </a:rPr>
                  <a:t>H = </a:t>
                </a:r>
                <a:r>
                  <a:rPr lang="fr-CA" sz="1600" b="0" i="0" dirty="0" err="1">
                    <a:effectLst/>
                    <a:latin typeface="Menlo"/>
                  </a:rPr>
                  <a:t>zeros</a:t>
                </a:r>
                <a:r>
                  <a:rPr lang="fr-CA" sz="1600" b="0" i="0" dirty="0">
                    <a:effectLst/>
                    <a:latin typeface="Menlo"/>
                  </a:rPr>
                  <a:t>(size(</a:t>
                </a:r>
                <a:r>
                  <a:rPr lang="fr-CA" sz="1600" b="0" i="0" dirty="0" err="1">
                    <a:effectLst/>
                    <a:latin typeface="Menlo"/>
                  </a:rPr>
                  <a:t>theta</a:t>
                </a:r>
                <a:r>
                  <a:rPr lang="fr-CA" sz="1600" b="0" i="0" dirty="0">
                    <a:effectLst/>
                    <a:latin typeface="Menlo"/>
                  </a:rPr>
                  <a:t>)); </a:t>
                </a:r>
                <a:r>
                  <a:rPr lang="fr-CA" sz="1600" b="0" i="0" dirty="0">
                    <a:solidFill>
                      <a:srgbClr val="008013"/>
                    </a:solidFill>
                    <a:effectLst/>
                    <a:latin typeface="Menlo"/>
                  </a:rPr>
                  <a:t>% Pseudo-déclaration</a:t>
                </a:r>
                <a:endParaRPr lang="fr-CA" sz="1600" b="0" i="0" dirty="0">
                  <a:effectLst/>
                  <a:latin typeface="Menlo"/>
                </a:endParaRPr>
              </a:p>
              <a:p>
                <a:pPr>
                  <a:lnSpc>
                    <a:spcPts val="1800"/>
                  </a:lnSpc>
                </a:pPr>
                <a:r>
                  <a:rPr lang="fr-CA" sz="1600" b="0" i="0" dirty="0">
                    <a:solidFill>
                      <a:srgbClr val="0E00FF"/>
                    </a:solidFill>
                    <a:effectLst/>
                    <a:latin typeface="Menlo"/>
                  </a:rPr>
                  <a:t>for </a:t>
                </a:r>
                <a:r>
                  <a:rPr lang="fr-CA" sz="1600" b="0" i="0" dirty="0">
                    <a:effectLst/>
                    <a:latin typeface="Menlo"/>
                  </a:rPr>
                  <a:t>i = 1:length(</a:t>
                </a:r>
                <a:r>
                  <a:rPr lang="fr-CA" sz="1600" b="0" i="0" dirty="0" err="1">
                    <a:effectLst/>
                    <a:latin typeface="Menlo"/>
                  </a:rPr>
                  <a:t>theta</a:t>
                </a:r>
                <a:r>
                  <a:rPr lang="fr-CA" sz="1600" b="0" i="0" dirty="0">
                    <a:effectLst/>
                    <a:latin typeface="Menlo"/>
                  </a:rPr>
                  <a:t>)</a:t>
                </a:r>
              </a:p>
              <a:p>
                <a:pPr>
                  <a:lnSpc>
                    <a:spcPts val="1800"/>
                  </a:lnSpc>
                </a:pPr>
                <a:r>
                  <a:rPr lang="fr-CA" sz="1600" b="0" i="0" dirty="0">
                    <a:effectLst/>
                    <a:latin typeface="Menlo"/>
                  </a:rPr>
                  <a:t>	H(i) = l1/l2*</a:t>
                </a:r>
                <a:r>
                  <a:rPr lang="fr-CA" sz="1600" b="0" i="0" dirty="0" err="1">
                    <a:effectLst/>
                    <a:latin typeface="Menlo"/>
                  </a:rPr>
                  <a:t>cosd</a:t>
                </a:r>
                <a:r>
                  <a:rPr lang="fr-CA" sz="1600" b="0" i="0" dirty="0">
                    <a:effectLst/>
                    <a:latin typeface="Menlo"/>
                  </a:rPr>
                  <a:t>(</a:t>
                </a:r>
                <a:r>
                  <a:rPr lang="fr-CA" sz="1600" b="0" i="0" dirty="0" err="1">
                    <a:effectLst/>
                    <a:latin typeface="Menlo"/>
                  </a:rPr>
                  <a:t>theta</a:t>
                </a:r>
                <a:r>
                  <a:rPr lang="fr-CA" sz="1600" b="0" i="0" dirty="0">
                    <a:effectLst/>
                    <a:latin typeface="Menlo"/>
                  </a:rPr>
                  <a:t>(i))*</a:t>
                </a:r>
                <a:r>
                  <a:rPr lang="fr-CA" sz="1600" b="0" i="0" dirty="0" err="1">
                    <a:effectLst/>
                    <a:latin typeface="Menlo"/>
                  </a:rPr>
                  <a:t>sind</a:t>
                </a:r>
                <a:r>
                  <a:rPr lang="fr-CA" sz="1600" b="0" i="0" dirty="0">
                    <a:effectLst/>
                    <a:latin typeface="Menlo"/>
                  </a:rPr>
                  <a:t>(</a:t>
                </a:r>
                <a:r>
                  <a:rPr lang="fr-CA" sz="1600" b="0" i="0" dirty="0" err="1">
                    <a:effectLst/>
                    <a:latin typeface="Menlo"/>
                  </a:rPr>
                  <a:t>theta</a:t>
                </a:r>
                <a:r>
                  <a:rPr lang="fr-CA" sz="1600" b="0" i="0" dirty="0">
                    <a:effectLst/>
                    <a:latin typeface="Menlo"/>
                  </a:rPr>
                  <a:t>(i));</a:t>
                </a:r>
              </a:p>
              <a:p>
                <a:pPr>
                  <a:lnSpc>
                    <a:spcPts val="1800"/>
                  </a:lnSpc>
                </a:pPr>
                <a:r>
                  <a:rPr lang="fr-CA" sz="1600" b="0" i="0" dirty="0">
                    <a:solidFill>
                      <a:srgbClr val="0E00FF"/>
                    </a:solidFill>
                    <a:effectLst/>
                    <a:latin typeface="Menlo"/>
                  </a:rPr>
                  <a:t>	if </a:t>
                </a:r>
                <a:r>
                  <a:rPr lang="fr-CA" sz="1600" b="0" i="0" dirty="0">
                    <a:effectLst/>
                    <a:latin typeface="Menlo"/>
                  </a:rPr>
                  <a:t>H(i) &gt; </a:t>
                </a:r>
                <a:r>
                  <a:rPr lang="fr-CA" sz="1600" b="0" i="0" dirty="0" err="1">
                    <a:effectLst/>
                    <a:latin typeface="Menlo"/>
                  </a:rPr>
                  <a:t>H_max</a:t>
                </a:r>
                <a:endParaRPr lang="fr-CA" sz="1600" b="0" i="0" dirty="0">
                  <a:effectLst/>
                  <a:latin typeface="Menlo"/>
                </a:endParaRPr>
              </a:p>
              <a:p>
                <a:pPr>
                  <a:lnSpc>
                    <a:spcPts val="1800"/>
                  </a:lnSpc>
                </a:pPr>
                <a:r>
                  <a:rPr lang="fr-CA" sz="1600" b="0" i="0" dirty="0">
                    <a:effectLst/>
                    <a:latin typeface="Menlo"/>
                  </a:rPr>
                  <a:t>		</a:t>
                </a:r>
                <a:r>
                  <a:rPr lang="fr-CA" sz="1600" b="0" i="0" dirty="0" err="1">
                    <a:effectLst/>
                    <a:latin typeface="Menlo"/>
                  </a:rPr>
                  <a:t>theta_opt</a:t>
                </a:r>
                <a:r>
                  <a:rPr lang="fr-CA" sz="1600" b="0" i="0" dirty="0">
                    <a:effectLst/>
                    <a:latin typeface="Menlo"/>
                  </a:rPr>
                  <a:t> = </a:t>
                </a:r>
                <a:r>
                  <a:rPr lang="fr-CA" sz="1600" b="0" i="0" dirty="0" err="1">
                    <a:effectLst/>
                    <a:latin typeface="Menlo"/>
                  </a:rPr>
                  <a:t>theta</a:t>
                </a:r>
                <a:r>
                  <a:rPr lang="fr-CA" sz="1600" b="0" i="0" dirty="0">
                    <a:effectLst/>
                    <a:latin typeface="Menlo"/>
                  </a:rPr>
                  <a:t>(i);</a:t>
                </a:r>
              </a:p>
              <a:p>
                <a:pPr>
                  <a:lnSpc>
                    <a:spcPts val="1800"/>
                  </a:lnSpc>
                </a:pPr>
                <a:r>
                  <a:rPr lang="fr-CA" sz="1600" b="0" i="0" dirty="0">
                    <a:effectLst/>
                    <a:latin typeface="Menlo"/>
                  </a:rPr>
                  <a:t>		</a:t>
                </a:r>
                <a:r>
                  <a:rPr lang="fr-CA" sz="1600" b="0" i="0" dirty="0" err="1">
                    <a:effectLst/>
                    <a:latin typeface="Menlo"/>
                  </a:rPr>
                  <a:t>H_max</a:t>
                </a:r>
                <a:r>
                  <a:rPr lang="fr-CA" sz="1600" b="0" i="0" dirty="0">
                    <a:effectLst/>
                    <a:latin typeface="Menlo"/>
                  </a:rPr>
                  <a:t> = H(i);</a:t>
                </a:r>
              </a:p>
              <a:p>
                <a:pPr>
                  <a:lnSpc>
                    <a:spcPts val="1800"/>
                  </a:lnSpc>
                </a:pPr>
                <a:r>
                  <a:rPr lang="fr-CA" sz="1600" b="0" i="0" dirty="0">
                    <a:solidFill>
                      <a:srgbClr val="0E00FF"/>
                    </a:solidFill>
                    <a:effectLst/>
                    <a:latin typeface="Menlo"/>
                  </a:rPr>
                  <a:t>	end</a:t>
                </a:r>
                <a:endParaRPr lang="fr-CA" sz="1600" b="0" i="0" dirty="0">
                  <a:effectLst/>
                  <a:latin typeface="Menlo"/>
                </a:endParaRPr>
              </a:p>
              <a:p>
                <a:pPr>
                  <a:lnSpc>
                    <a:spcPts val="1800"/>
                  </a:lnSpc>
                </a:pPr>
                <a:r>
                  <a:rPr lang="fr-CA" sz="1600" b="0" i="0" dirty="0">
                    <a:solidFill>
                      <a:srgbClr val="0E00FF"/>
                    </a:solidFill>
                    <a:effectLst/>
                    <a:latin typeface="Menlo"/>
                  </a:rPr>
                  <a:t>end</a:t>
                </a:r>
                <a:endParaRPr lang="fr-CA" sz="1600" b="0" i="0" dirty="0">
                  <a:effectLst/>
                  <a:latin typeface="Menlo"/>
                </a:endParaRPr>
              </a:p>
            </p:txBody>
          </p:sp>
        </mc:Choice>
        <mc:Fallback xmlns="">
          <p:sp>
            <p:nvSpPr>
              <p:cNvPr id="20" name="ZoneTexte 19">
                <a:extLst>
                  <a:ext uri="{FF2B5EF4-FFF2-40B4-BE49-F238E27FC236}">
                    <a16:creationId xmlns:a16="http://schemas.microsoft.com/office/drawing/2014/main" id="{200639F2-ACF4-9168-F801-0F8F7915927B}"/>
                  </a:ext>
                </a:extLst>
              </p:cNvPr>
              <p:cNvSpPr txBox="1">
                <a:spLocks noRot="1" noChangeAspect="1" noMove="1" noResize="1" noEditPoints="1" noAdjustHandles="1" noChangeArrowheads="1" noChangeShapeType="1" noTextEdit="1"/>
              </p:cNvSpPr>
              <p:nvPr/>
            </p:nvSpPr>
            <p:spPr>
              <a:xfrm>
                <a:off x="6343292" y="3095250"/>
                <a:ext cx="5385445" cy="3785652"/>
              </a:xfrm>
              <a:prstGeom prst="rect">
                <a:avLst/>
              </a:prstGeom>
              <a:blipFill>
                <a:blip r:embed="rId2"/>
                <a:stretch>
                  <a:fillRect l="-680" t="-805" b="-1127"/>
                </a:stretch>
              </a:blipFill>
            </p:spPr>
            <p:txBody>
              <a:bodyPr/>
              <a:lstStyle/>
              <a:p>
                <a:r>
                  <a:rPr lang="fr-FR">
                    <a:noFill/>
                  </a:rPr>
                  <a:t> </a:t>
                </a:r>
              </a:p>
            </p:txBody>
          </p:sp>
        </mc:Fallback>
      </mc:AlternateContent>
    </p:spTree>
    <p:extLst>
      <p:ext uri="{BB962C8B-B14F-4D97-AF65-F5344CB8AC3E}">
        <p14:creationId xmlns:p14="http://schemas.microsoft.com/office/powerpoint/2010/main" val="384198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Effect transition="in" filter="fade">
                                      <p:cBhvr>
                                        <p:cTn id="39" dur="500"/>
                                        <p:tgtEl>
                                          <p:spTgt spid="8"/>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fltVal val="0"/>
                                          </p:val>
                                        </p:tav>
                                        <p:tav tm="100000">
                                          <p:val>
                                            <p:strVal val="#ppt_w"/>
                                          </p:val>
                                        </p:tav>
                                      </p:tavLst>
                                    </p:anim>
                                    <p:anim calcmode="lin" valueType="num">
                                      <p:cBhvr>
                                        <p:cTn id="50" dur="500" fill="hold"/>
                                        <p:tgtEl>
                                          <p:spTgt spid="11"/>
                                        </p:tgtEl>
                                        <p:attrNameLst>
                                          <p:attrName>ppt_h</p:attrName>
                                        </p:attrNameLst>
                                      </p:cBhvr>
                                      <p:tavLst>
                                        <p:tav tm="0">
                                          <p:val>
                                            <p:fltVal val="0"/>
                                          </p:val>
                                        </p:tav>
                                        <p:tav tm="100000">
                                          <p:val>
                                            <p:strVal val="#ppt_h"/>
                                          </p:val>
                                        </p:tav>
                                      </p:tavLst>
                                    </p:anim>
                                    <p:animEffect transition="in" filter="fade">
                                      <p:cBhvr>
                                        <p:cTn id="51" dur="500"/>
                                        <p:tgtEl>
                                          <p:spTgt spid="11"/>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p:cTn id="55" dur="500" fill="hold"/>
                                        <p:tgtEl>
                                          <p:spTgt spid="12"/>
                                        </p:tgtEl>
                                        <p:attrNameLst>
                                          <p:attrName>ppt_w</p:attrName>
                                        </p:attrNameLst>
                                      </p:cBhvr>
                                      <p:tavLst>
                                        <p:tav tm="0">
                                          <p:val>
                                            <p:fltVal val="0"/>
                                          </p:val>
                                        </p:tav>
                                        <p:tav tm="100000">
                                          <p:val>
                                            <p:strVal val="#ppt_w"/>
                                          </p:val>
                                        </p:tav>
                                      </p:tavLst>
                                    </p:anim>
                                    <p:anim calcmode="lin" valueType="num">
                                      <p:cBhvr>
                                        <p:cTn id="56" dur="500" fill="hold"/>
                                        <p:tgtEl>
                                          <p:spTgt spid="12"/>
                                        </p:tgtEl>
                                        <p:attrNameLst>
                                          <p:attrName>ppt_h</p:attrName>
                                        </p:attrNameLst>
                                      </p:cBhvr>
                                      <p:tavLst>
                                        <p:tav tm="0">
                                          <p:val>
                                            <p:fltVal val="0"/>
                                          </p:val>
                                        </p:tav>
                                        <p:tav tm="100000">
                                          <p:val>
                                            <p:strVal val="#ppt_h"/>
                                          </p:val>
                                        </p:tav>
                                      </p:tavLst>
                                    </p:anim>
                                    <p:animEffect transition="in" filter="fade">
                                      <p:cBhvr>
                                        <p:cTn id="57" dur="500"/>
                                        <p:tgtEl>
                                          <p:spTgt spid="12"/>
                                        </p:tgtEl>
                                      </p:cBhvr>
                                    </p:animEffect>
                                  </p:childTnLst>
                                </p:cTn>
                              </p:par>
                            </p:childTnLst>
                          </p:cTn>
                        </p:par>
                        <p:par>
                          <p:cTn id="58" fill="hold">
                            <p:stCondLst>
                              <p:cond delay="4500"/>
                            </p:stCondLst>
                            <p:childTnLst>
                              <p:par>
                                <p:cTn id="59" presetID="53" presetClass="entr" presetSubtype="16" fill="hold" grpId="0" nodeType="after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p:cTn id="61" dur="500" fill="hold"/>
                                        <p:tgtEl>
                                          <p:spTgt spid="14"/>
                                        </p:tgtEl>
                                        <p:attrNameLst>
                                          <p:attrName>ppt_w</p:attrName>
                                        </p:attrNameLst>
                                      </p:cBhvr>
                                      <p:tavLst>
                                        <p:tav tm="0">
                                          <p:val>
                                            <p:fltVal val="0"/>
                                          </p:val>
                                        </p:tav>
                                        <p:tav tm="100000">
                                          <p:val>
                                            <p:strVal val="#ppt_w"/>
                                          </p:val>
                                        </p:tav>
                                      </p:tavLst>
                                    </p:anim>
                                    <p:anim calcmode="lin" valueType="num">
                                      <p:cBhvr>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par>
                          <p:cTn id="64" fill="hold">
                            <p:stCondLst>
                              <p:cond delay="5000"/>
                            </p:stCondLst>
                            <p:childTnLst>
                              <p:par>
                                <p:cTn id="65" presetID="53" presetClass="entr" presetSubtype="16" fill="hold" grpId="0" nodeType="after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p:cTn id="67" dur="500" fill="hold"/>
                                        <p:tgtEl>
                                          <p:spTgt spid="15"/>
                                        </p:tgtEl>
                                        <p:attrNameLst>
                                          <p:attrName>ppt_w</p:attrName>
                                        </p:attrNameLst>
                                      </p:cBhvr>
                                      <p:tavLst>
                                        <p:tav tm="0">
                                          <p:val>
                                            <p:fltVal val="0"/>
                                          </p:val>
                                        </p:tav>
                                        <p:tav tm="100000">
                                          <p:val>
                                            <p:strVal val="#ppt_w"/>
                                          </p:val>
                                        </p:tav>
                                      </p:tavLst>
                                    </p:anim>
                                    <p:anim calcmode="lin" valueType="num">
                                      <p:cBhvr>
                                        <p:cTn id="68" dur="500" fill="hold"/>
                                        <p:tgtEl>
                                          <p:spTgt spid="15"/>
                                        </p:tgtEl>
                                        <p:attrNameLst>
                                          <p:attrName>ppt_h</p:attrName>
                                        </p:attrNameLst>
                                      </p:cBhvr>
                                      <p:tavLst>
                                        <p:tav tm="0">
                                          <p:val>
                                            <p:fltVal val="0"/>
                                          </p:val>
                                        </p:tav>
                                        <p:tav tm="100000">
                                          <p:val>
                                            <p:strVal val="#ppt_h"/>
                                          </p:val>
                                        </p:tav>
                                      </p:tavLst>
                                    </p:anim>
                                    <p:animEffect transition="in" filter="fade">
                                      <p:cBhvr>
                                        <p:cTn id="69" dur="500"/>
                                        <p:tgtEl>
                                          <p:spTgt spid="15"/>
                                        </p:tgtEl>
                                      </p:cBhvr>
                                    </p:animEffect>
                                  </p:childTnLst>
                                </p:cTn>
                              </p:par>
                            </p:childTnLst>
                          </p:cTn>
                        </p:par>
                        <p:par>
                          <p:cTn id="70" fill="hold">
                            <p:stCondLst>
                              <p:cond delay="5500"/>
                            </p:stCondLst>
                            <p:childTnLst>
                              <p:par>
                                <p:cTn id="71" presetID="53" presetClass="entr" presetSubtype="16" fill="hold" grpId="0" nodeType="after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p:cTn id="73" dur="500" fill="hold"/>
                                        <p:tgtEl>
                                          <p:spTgt spid="16"/>
                                        </p:tgtEl>
                                        <p:attrNameLst>
                                          <p:attrName>ppt_w</p:attrName>
                                        </p:attrNameLst>
                                      </p:cBhvr>
                                      <p:tavLst>
                                        <p:tav tm="0">
                                          <p:val>
                                            <p:fltVal val="0"/>
                                          </p:val>
                                        </p:tav>
                                        <p:tav tm="100000">
                                          <p:val>
                                            <p:strVal val="#ppt_w"/>
                                          </p:val>
                                        </p:tav>
                                      </p:tavLst>
                                    </p:anim>
                                    <p:anim calcmode="lin" valueType="num">
                                      <p:cBhvr>
                                        <p:cTn id="74" dur="500" fill="hold"/>
                                        <p:tgtEl>
                                          <p:spTgt spid="16"/>
                                        </p:tgtEl>
                                        <p:attrNameLst>
                                          <p:attrName>ppt_h</p:attrName>
                                        </p:attrNameLst>
                                      </p:cBhvr>
                                      <p:tavLst>
                                        <p:tav tm="0">
                                          <p:val>
                                            <p:fltVal val="0"/>
                                          </p:val>
                                        </p:tav>
                                        <p:tav tm="100000">
                                          <p:val>
                                            <p:strVal val="#ppt_h"/>
                                          </p:val>
                                        </p:tav>
                                      </p:tavLst>
                                    </p:anim>
                                    <p:animEffect transition="in" filter="fade">
                                      <p:cBhvr>
                                        <p:cTn id="75" dur="500"/>
                                        <p:tgtEl>
                                          <p:spTgt spid="16"/>
                                        </p:tgtEl>
                                      </p:cBhvr>
                                    </p:animEffect>
                                  </p:childTnLst>
                                </p:cTn>
                              </p:par>
                            </p:childTnLst>
                          </p:cTn>
                        </p:par>
                        <p:par>
                          <p:cTn id="76" fill="hold">
                            <p:stCondLst>
                              <p:cond delay="6000"/>
                            </p:stCondLst>
                            <p:childTnLst>
                              <p:par>
                                <p:cTn id="77" presetID="53" presetClass="entr" presetSubtype="16" fill="hold" grpId="0" nodeType="after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p:cTn id="79" dur="500" fill="hold"/>
                                        <p:tgtEl>
                                          <p:spTgt spid="18"/>
                                        </p:tgtEl>
                                        <p:attrNameLst>
                                          <p:attrName>ppt_w</p:attrName>
                                        </p:attrNameLst>
                                      </p:cBhvr>
                                      <p:tavLst>
                                        <p:tav tm="0">
                                          <p:val>
                                            <p:fltVal val="0"/>
                                          </p:val>
                                        </p:tav>
                                        <p:tav tm="100000">
                                          <p:val>
                                            <p:strVal val="#ppt_w"/>
                                          </p:val>
                                        </p:tav>
                                      </p:tavLst>
                                    </p:anim>
                                    <p:anim calcmode="lin" valueType="num">
                                      <p:cBhvr>
                                        <p:cTn id="80" dur="500" fill="hold"/>
                                        <p:tgtEl>
                                          <p:spTgt spid="18"/>
                                        </p:tgtEl>
                                        <p:attrNameLst>
                                          <p:attrName>ppt_h</p:attrName>
                                        </p:attrNameLst>
                                      </p:cBhvr>
                                      <p:tavLst>
                                        <p:tav tm="0">
                                          <p:val>
                                            <p:fltVal val="0"/>
                                          </p:val>
                                        </p:tav>
                                        <p:tav tm="100000">
                                          <p:val>
                                            <p:strVal val="#ppt_h"/>
                                          </p:val>
                                        </p:tav>
                                      </p:tavLst>
                                    </p:anim>
                                    <p:animEffect transition="in" filter="fade">
                                      <p:cBhvr>
                                        <p:cTn id="8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4" grpId="0" animBg="1"/>
      <p:bldP spid="5" grpId="0" animBg="1"/>
      <p:bldP spid="6" grpId="0" animBg="1"/>
      <p:bldP spid="7" grpId="0" animBg="1"/>
      <p:bldP spid="8" grpId="0" animBg="1"/>
      <p:bldP spid="9" grpId="0" animBg="1"/>
      <p:bldP spid="11" grpId="0" animBg="1"/>
      <p:bldP spid="12" grpId="0" animBg="1"/>
      <p:bldP spid="14" grpId="0" animBg="1"/>
      <p:bldP spid="15" grpId="0" animBg="1"/>
      <p:bldP spid="16"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58A2F2-DA52-C578-BAFA-9685E32A20E1}"/>
              </a:ext>
            </a:extLst>
          </p:cNvPr>
          <p:cNvSpPr>
            <a:spLocks noGrp="1"/>
          </p:cNvSpPr>
          <p:nvPr>
            <p:ph type="title"/>
          </p:nvPr>
        </p:nvSpPr>
        <p:spPr/>
        <p:txBody>
          <a:bodyPr/>
          <a:lstStyle/>
          <a:p>
            <a:r>
              <a:rPr lang="fr-CA" dirty="0"/>
              <a:t>Méthodologie d’optimisation (4/4)</a:t>
            </a:r>
            <a:endParaRPr lang="fr-FR" dirty="0"/>
          </a:p>
        </p:txBody>
      </p:sp>
      <p:sp>
        <p:nvSpPr>
          <p:cNvPr id="3" name="Espace réservé du contenu 2">
            <a:extLst>
              <a:ext uri="{FF2B5EF4-FFF2-40B4-BE49-F238E27FC236}">
                <a16:creationId xmlns:a16="http://schemas.microsoft.com/office/drawing/2014/main" id="{567C808A-92F8-206A-AD48-39A407FEA1AC}"/>
              </a:ext>
            </a:extLst>
          </p:cNvPr>
          <p:cNvSpPr>
            <a:spLocks noGrp="1"/>
          </p:cNvSpPr>
          <p:nvPr>
            <p:ph sz="half" idx="1"/>
          </p:nvPr>
        </p:nvSpPr>
        <p:spPr>
          <a:xfrm>
            <a:off x="838199" y="1825625"/>
            <a:ext cx="5636559" cy="4667250"/>
          </a:xfrm>
        </p:spPr>
        <p:txBody>
          <a:bodyPr>
            <a:normAutofit fontScale="92500"/>
          </a:bodyPr>
          <a:lstStyle/>
          <a:p>
            <a:pPr marL="514350" indent="-514350">
              <a:buFont typeface="+mj-lt"/>
              <a:buAutoNum type="arabicPeriod" startAt="3"/>
            </a:pPr>
            <a:r>
              <a:rPr lang="fr-CA" sz="1800" b="1" dirty="0"/>
              <a:t>Afficher, analyser et discuter les résultats</a:t>
            </a:r>
            <a:r>
              <a:rPr lang="fr-CA" sz="1800" b="1" baseline="30000" dirty="0"/>
              <a:t> </a:t>
            </a:r>
            <a:br>
              <a:rPr lang="fr-CA" sz="1800" b="1" baseline="30000" dirty="0"/>
            </a:br>
            <a:r>
              <a:rPr lang="fr-CA" sz="1800" b="1" dirty="0"/>
              <a:t>[Détail: </a:t>
            </a:r>
            <a:r>
              <a:rPr lang="fr-CA" sz="1800" b="1" dirty="0">
                <a:hlinkClick r:id="rId2" action="ppaction://hlinksldjump"/>
              </a:rPr>
              <a:t>Annexe</a:t>
            </a:r>
            <a:r>
              <a:rPr lang="fr-CA" sz="1800" b="1" dirty="0"/>
              <a:t>]</a:t>
            </a:r>
          </a:p>
          <a:p>
            <a:pPr lvl="1"/>
            <a:r>
              <a:rPr lang="fr-CA" sz="1800" dirty="0"/>
              <a:t>Afficher en format texte et/ou graphique les résultats de l’optimisation</a:t>
            </a:r>
          </a:p>
          <a:p>
            <a:pPr lvl="1"/>
            <a:r>
              <a:rPr lang="fr-CA" sz="1800" dirty="0"/>
              <a:t>Analyser les résultats obtenus</a:t>
            </a:r>
          </a:p>
          <a:p>
            <a:pPr lvl="2"/>
            <a:r>
              <a:rPr lang="fr-CA" sz="1400" dirty="0"/>
              <a:t>Quel est le lien entre paramètre optimal et valeur maximale ou minimale de la fonction coût ?</a:t>
            </a:r>
          </a:p>
          <a:p>
            <a:pPr lvl="2"/>
            <a:r>
              <a:rPr lang="fr-CA" sz="1400" dirty="0"/>
              <a:t>Qu’est-ce que les résultats montrent ?</a:t>
            </a:r>
          </a:p>
          <a:p>
            <a:pPr lvl="2"/>
            <a:r>
              <a:rPr lang="fr-CA" sz="1400" dirty="0"/>
              <a:t>Quels sont les résultats/valeurs clés ?</a:t>
            </a:r>
          </a:p>
          <a:p>
            <a:pPr lvl="2"/>
            <a:r>
              <a:rPr lang="fr-CA" sz="1400" dirty="0"/>
              <a:t>Y a-t-il  une tendance ?</a:t>
            </a:r>
          </a:p>
          <a:p>
            <a:pPr lvl="2"/>
            <a:r>
              <a:rPr lang="fr-CA" sz="1400" dirty="0"/>
              <a:t>…</a:t>
            </a:r>
          </a:p>
          <a:p>
            <a:pPr lvl="1"/>
            <a:r>
              <a:rPr lang="fr-CA" sz="1800" dirty="0"/>
              <a:t>Discuter les résultats et analyses obtenus</a:t>
            </a:r>
          </a:p>
          <a:p>
            <a:pPr lvl="2"/>
            <a:r>
              <a:rPr lang="fr-CA" sz="1400" dirty="0"/>
              <a:t>Qu’est-ce que les résultats signifient?</a:t>
            </a:r>
          </a:p>
          <a:p>
            <a:pPr lvl="2"/>
            <a:r>
              <a:rPr lang="fr-CA" sz="1400" dirty="0"/>
              <a:t>Comment ces résultats s’appliquent au problème étudié?</a:t>
            </a:r>
          </a:p>
          <a:p>
            <a:pPr lvl="2"/>
            <a:r>
              <a:rPr lang="fr-CA" sz="1400" dirty="0"/>
              <a:t>Comment s’expliquent les résultats obtenus ?</a:t>
            </a:r>
          </a:p>
          <a:p>
            <a:pPr lvl="2"/>
            <a:r>
              <a:rPr lang="fr-CA" sz="1400" dirty="0"/>
              <a:t>Quelles sont les limites de l’étude ?</a:t>
            </a:r>
          </a:p>
          <a:p>
            <a:pPr lvl="2"/>
            <a:r>
              <a:rPr lang="fr-CA" sz="1400" dirty="0"/>
              <a:t>…</a:t>
            </a:r>
            <a:endParaRPr lang="fr-CA" sz="2200" dirty="0"/>
          </a:p>
          <a:p>
            <a:pPr marL="514350" indent="-514350">
              <a:buFont typeface="+mj-lt"/>
              <a:buAutoNum type="arabicPeriod" startAt="3"/>
            </a:pPr>
            <a:r>
              <a:rPr lang="fr-CA" sz="1800" b="1" dirty="0"/>
              <a:t>Conclure l’étude et en identifier des perspectives </a:t>
            </a:r>
          </a:p>
        </p:txBody>
      </p:sp>
      <p:pic>
        <p:nvPicPr>
          <p:cNvPr id="17" name="Image 16" descr="Une image contenant texte, capture d’écran, ligne, Tracé&#10;&#10;Description générée automatiquement">
            <a:extLst>
              <a:ext uri="{FF2B5EF4-FFF2-40B4-BE49-F238E27FC236}">
                <a16:creationId xmlns:a16="http://schemas.microsoft.com/office/drawing/2014/main" id="{762BCD1D-A71C-4A60-23DD-1027038970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3764" y="2190070"/>
            <a:ext cx="4140036" cy="3103844"/>
          </a:xfrm>
          <a:prstGeom prst="rect">
            <a:avLst/>
          </a:prstGeom>
        </p:spPr>
      </p:pic>
      <p:pic>
        <p:nvPicPr>
          <p:cNvPr id="19" name="Image 18">
            <a:extLst>
              <a:ext uri="{FF2B5EF4-FFF2-40B4-BE49-F238E27FC236}">
                <a16:creationId xmlns:a16="http://schemas.microsoft.com/office/drawing/2014/main" id="{9C964522-A21F-5B20-6D93-5A87D62DC539}"/>
              </a:ext>
            </a:extLst>
          </p:cNvPr>
          <p:cNvPicPr>
            <a:picLocks noChangeAspect="1"/>
          </p:cNvPicPr>
          <p:nvPr/>
        </p:nvPicPr>
        <p:blipFill>
          <a:blip r:embed="rId4"/>
          <a:stretch>
            <a:fillRect/>
          </a:stretch>
        </p:blipFill>
        <p:spPr>
          <a:xfrm>
            <a:off x="7213764" y="5486013"/>
            <a:ext cx="4384554" cy="667810"/>
          </a:xfrm>
          <a:prstGeom prst="rect">
            <a:avLst/>
          </a:prstGeom>
        </p:spPr>
      </p:pic>
      <mc:AlternateContent xmlns:mc="http://schemas.openxmlformats.org/markup-compatibility/2006" xmlns:pslz="http://schemas.microsoft.com/office/powerpoint/2016/slidezoom">
        <mc:Choice Requires="pslz">
          <p:graphicFrame>
            <p:nvGraphicFramePr>
              <p:cNvPr id="24" name="Zoom de diapositive 23">
                <a:extLst>
                  <a:ext uri="{FF2B5EF4-FFF2-40B4-BE49-F238E27FC236}">
                    <a16:creationId xmlns:a16="http://schemas.microsoft.com/office/drawing/2014/main" id="{FAEC4BA1-CCE9-130E-E430-77EF0A7653CC}"/>
                  </a:ext>
                </a:extLst>
              </p:cNvPr>
              <p:cNvGraphicFramePr>
                <a:graphicFrameLocks noChangeAspect="1"/>
              </p:cNvGraphicFramePr>
              <p:nvPr>
                <p:extLst>
                  <p:ext uri="{D42A27DB-BD31-4B8C-83A1-F6EECF244321}">
                    <p14:modId xmlns:p14="http://schemas.microsoft.com/office/powerpoint/2010/main" val="714257331"/>
                  </p:ext>
                </p:extLst>
              </p:nvPr>
            </p:nvGraphicFramePr>
            <p:xfrm>
              <a:off x="5760459" y="1631190"/>
              <a:ext cx="1501754" cy="844737"/>
            </p:xfrm>
            <a:graphic>
              <a:graphicData uri="http://schemas.microsoft.com/office/powerpoint/2016/slidezoom">
                <pslz:sldZm>
                  <pslz:sldZmObj sldId="278" cId="3288514697">
                    <pslz:zmPr id="{31DA579A-D0E9-4CE3-B867-083CFDBC60B1}" returnToParent="0" transitionDur="1000">
                      <p166:blipFill xmlns:p166="http://schemas.microsoft.com/office/powerpoint/2016/6/main">
                        <a:blip r:embed="rId5"/>
                        <a:stretch>
                          <a:fillRect/>
                        </a:stretch>
                      </p166:blipFill>
                      <p166:spPr xmlns:p166="http://schemas.microsoft.com/office/powerpoint/2016/6/main">
                        <a:xfrm>
                          <a:off x="0" y="0"/>
                          <a:ext cx="1501754" cy="844737"/>
                        </a:xfrm>
                        <a:prstGeom prst="rect">
                          <a:avLst/>
                        </a:prstGeom>
                        <a:ln w="3175">
                          <a:solidFill>
                            <a:prstClr val="ltGray"/>
                          </a:solidFill>
                        </a:ln>
                      </p166:spPr>
                    </pslz:zmPr>
                  </pslz:sldZmObj>
                </pslz:sldZm>
              </a:graphicData>
            </a:graphic>
          </p:graphicFrame>
        </mc:Choice>
        <mc:Fallback xmlns="">
          <p:pic>
            <p:nvPicPr>
              <p:cNvPr id="24" name="Zoom de diapositive 23">
                <a:hlinkClick r:id="rId6" action="ppaction://hlinksldjump"/>
                <a:extLst>
                  <a:ext uri="{FF2B5EF4-FFF2-40B4-BE49-F238E27FC236}">
                    <a16:creationId xmlns:a16="http://schemas.microsoft.com/office/drawing/2014/main" id="{FAEC4BA1-CCE9-130E-E430-77EF0A7653CC}"/>
                  </a:ext>
                </a:extLst>
              </p:cNvPr>
              <p:cNvPicPr>
                <a:picLocks noGrp="1" noRot="1" noChangeAspect="1" noMove="1" noResize="1" noEditPoints="1" noAdjustHandles="1" noChangeArrowheads="1" noChangeShapeType="1"/>
              </p:cNvPicPr>
              <p:nvPr/>
            </p:nvPicPr>
            <p:blipFill>
              <a:blip r:embed="rId7"/>
              <a:stretch>
                <a:fillRect/>
              </a:stretch>
            </p:blipFill>
            <p:spPr>
              <a:xfrm>
                <a:off x="5760459" y="1631190"/>
                <a:ext cx="1501754" cy="844737"/>
              </a:xfrm>
              <a:prstGeom prst="rect">
                <a:avLst/>
              </a:prstGeom>
              <a:ln w="3175">
                <a:solidFill>
                  <a:prstClr val="ltGray"/>
                </a:solidFill>
              </a:ln>
            </p:spPr>
          </p:pic>
        </mc:Fallback>
      </mc:AlternateContent>
    </p:spTree>
    <p:extLst>
      <p:ext uri="{BB962C8B-B14F-4D97-AF65-F5344CB8AC3E}">
        <p14:creationId xmlns:p14="http://schemas.microsoft.com/office/powerpoint/2010/main" val="2933356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6BD6D-ABA2-5D2E-CBC6-01FE7A49E63D}"/>
              </a:ext>
            </a:extLst>
          </p:cNvPr>
          <p:cNvSpPr>
            <a:spLocks noGrp="1"/>
          </p:cNvSpPr>
          <p:nvPr>
            <p:ph type="ctrTitle"/>
          </p:nvPr>
        </p:nvSpPr>
        <p:spPr/>
        <p:txBody>
          <a:bodyPr/>
          <a:lstStyle/>
          <a:p>
            <a:r>
              <a:rPr lang="fr-FR" dirty="0"/>
              <a:t>Annexe</a:t>
            </a:r>
          </a:p>
        </p:txBody>
      </p:sp>
      <p:sp>
        <p:nvSpPr>
          <p:cNvPr id="3" name="Sous-titre 2">
            <a:extLst>
              <a:ext uri="{FF2B5EF4-FFF2-40B4-BE49-F238E27FC236}">
                <a16:creationId xmlns:a16="http://schemas.microsoft.com/office/drawing/2014/main" id="{FF97E94C-9115-054A-5C54-61815BC3EC28}"/>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282331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083BA0-CC89-7645-A27F-2C3D0C7FB079}"/>
              </a:ext>
            </a:extLst>
          </p:cNvPr>
          <p:cNvSpPr>
            <a:spLocks noGrp="1"/>
          </p:cNvSpPr>
          <p:nvPr>
            <p:ph type="title"/>
          </p:nvPr>
        </p:nvSpPr>
        <p:spPr/>
        <p:txBody>
          <a:bodyPr>
            <a:normAutofit/>
          </a:bodyPr>
          <a:lstStyle/>
          <a:p>
            <a:r>
              <a:rPr lang="fr-FR" sz="4000" dirty="0"/>
              <a:t>Analyser Versus Discuter des résultats!</a:t>
            </a:r>
          </a:p>
        </p:txBody>
      </p:sp>
      <p:sp>
        <p:nvSpPr>
          <p:cNvPr id="3" name="Espace réservé du contenu 2">
            <a:extLst>
              <a:ext uri="{FF2B5EF4-FFF2-40B4-BE49-F238E27FC236}">
                <a16:creationId xmlns:a16="http://schemas.microsoft.com/office/drawing/2014/main" id="{ADA38C48-A329-3A07-D277-BDA3C29F7E50}"/>
              </a:ext>
            </a:extLst>
          </p:cNvPr>
          <p:cNvSpPr>
            <a:spLocks noGrp="1"/>
          </p:cNvSpPr>
          <p:nvPr>
            <p:ph idx="1"/>
          </p:nvPr>
        </p:nvSpPr>
        <p:spPr>
          <a:xfrm>
            <a:off x="358650" y="1627188"/>
            <a:ext cx="11474700" cy="4748212"/>
          </a:xfrm>
        </p:spPr>
        <p:txBody>
          <a:bodyPr>
            <a:normAutofit fontScale="92500" lnSpcReduction="10000"/>
          </a:bodyPr>
          <a:lstStyle/>
          <a:p>
            <a:pPr marL="0" indent="0">
              <a:buNone/>
            </a:pPr>
            <a:r>
              <a:rPr lang="fr-CA" sz="1200" dirty="0"/>
              <a:t>Bien que les termes "analyser" et "discuter" soient souvent utilisés de manière interchangeable, ils impliquent des actions distinctes et complémentaires dans le cadre d'une thèse de recherche.</a:t>
            </a:r>
          </a:p>
          <a:p>
            <a:pPr marL="0" indent="0">
              <a:buNone/>
            </a:pPr>
            <a:r>
              <a:rPr lang="fr-CA" sz="1200" b="1" dirty="0"/>
              <a:t>Analyser</a:t>
            </a:r>
            <a:r>
              <a:rPr lang="fr-CA" sz="1200" dirty="0"/>
              <a:t> les résultats, c'est :</a:t>
            </a:r>
          </a:p>
          <a:p>
            <a:pPr lvl="1"/>
            <a:r>
              <a:rPr lang="fr-CA" sz="1100" b="1" dirty="0"/>
              <a:t>Décomposer</a:t>
            </a:r>
            <a:r>
              <a:rPr lang="fr-CA" sz="1100" dirty="0"/>
              <a:t> les données : Il s'agit de déconstruire les courbes, les tableaux, etc., pour en extraire les informations les plus pertinentes.</a:t>
            </a:r>
          </a:p>
          <a:p>
            <a:pPr lvl="1"/>
            <a:r>
              <a:rPr lang="fr-CA" sz="1100" b="1" dirty="0"/>
              <a:t>Interpréter</a:t>
            </a:r>
            <a:r>
              <a:rPr lang="fr-CA" sz="1100" dirty="0"/>
              <a:t> les données : On cherche à donner du sens aux résultats obtenus. Qu'est-ce que ces données signifient par rapport à la théorie, à l'hypothèse de départ, ou à d'autres études ?</a:t>
            </a:r>
          </a:p>
          <a:p>
            <a:pPr lvl="1"/>
            <a:r>
              <a:rPr lang="fr-CA" sz="1100" b="1" dirty="0"/>
              <a:t>Comparer</a:t>
            </a:r>
            <a:r>
              <a:rPr lang="fr-CA" sz="1100" dirty="0"/>
              <a:t> les données : On met en relation les résultats obtenus avec les résultats attendus, avec les résultats d'autres études similaires, ou avec les données de la littérature.</a:t>
            </a:r>
          </a:p>
          <a:p>
            <a:pPr lvl="1"/>
            <a:r>
              <a:rPr lang="fr-CA" sz="1100" b="1" dirty="0"/>
              <a:t>Identifier</a:t>
            </a:r>
            <a:r>
              <a:rPr lang="fr-CA" sz="1100" dirty="0"/>
              <a:t> les tendances, les corrélations, les anomalies : On cherche à mettre en évidence les patterns qui se dégagent des données.</a:t>
            </a:r>
          </a:p>
          <a:p>
            <a:pPr marL="0" indent="0">
              <a:buNone/>
            </a:pPr>
            <a:r>
              <a:rPr lang="fr-CA" sz="1200" b="1" dirty="0"/>
              <a:t>Discuter</a:t>
            </a:r>
            <a:r>
              <a:rPr lang="fr-CA" sz="1200" dirty="0"/>
              <a:t> les résultats, c'est :</a:t>
            </a:r>
          </a:p>
          <a:p>
            <a:pPr lvl="1"/>
            <a:r>
              <a:rPr lang="fr-CA" sz="1100" b="1" dirty="0"/>
              <a:t>Mettre en perspective</a:t>
            </a:r>
            <a:r>
              <a:rPr lang="fr-CA" sz="1100" dirty="0"/>
              <a:t> les résultats : On les replace dans le contexte plus large de la recherche, en les reliant à la problématique initiale et aux objectifs de l'étude.</a:t>
            </a:r>
          </a:p>
          <a:p>
            <a:pPr lvl="1"/>
            <a:r>
              <a:rPr lang="fr-CA" sz="1100" b="1" dirty="0"/>
              <a:t>Évaluer</a:t>
            </a:r>
            <a:r>
              <a:rPr lang="fr-CA" sz="1100" dirty="0"/>
              <a:t> la validité des résultats : On discute des limites de l'étude, des sources d'erreur possibles, et de la fiabilité des méthodes utilisées.</a:t>
            </a:r>
          </a:p>
          <a:p>
            <a:pPr lvl="1"/>
            <a:r>
              <a:rPr lang="fr-CA" sz="1100" b="1" dirty="0"/>
              <a:t>Formuler des hypothèses</a:t>
            </a:r>
            <a:r>
              <a:rPr lang="fr-CA" sz="1100" dirty="0"/>
              <a:t> : On cherche à expliquer les résultats inattendus ou les phénomènes observés.</a:t>
            </a:r>
          </a:p>
          <a:p>
            <a:pPr lvl="1"/>
            <a:r>
              <a:rPr lang="fr-CA" sz="1100" b="1" dirty="0"/>
              <a:t>Tirer des conclusions</a:t>
            </a:r>
            <a:r>
              <a:rPr lang="fr-CA" sz="1100" dirty="0"/>
              <a:t> : On synthétise les principaux résultats et on en déduit les implications théoriques et pratiques.</a:t>
            </a:r>
          </a:p>
          <a:p>
            <a:pPr marL="0" indent="0">
              <a:buNone/>
            </a:pPr>
            <a:r>
              <a:rPr lang="fr-CA" sz="1200" b="1" dirty="0"/>
              <a:t>En résumé :</a:t>
            </a:r>
            <a:endParaRPr lang="fr-CA" sz="1200" dirty="0"/>
          </a:p>
          <a:p>
            <a:pPr lvl="1"/>
            <a:r>
              <a:rPr lang="fr-CA" sz="1100" b="1" dirty="0"/>
              <a:t>L'analyse</a:t>
            </a:r>
            <a:r>
              <a:rPr lang="fr-CA" sz="1100" dirty="0"/>
              <a:t> est une étape plus technique qui consiste à décoder les données.</a:t>
            </a:r>
          </a:p>
          <a:p>
            <a:pPr lvl="1"/>
            <a:r>
              <a:rPr lang="fr-CA" sz="1100" b="1" dirty="0"/>
              <a:t>La discussion</a:t>
            </a:r>
            <a:r>
              <a:rPr lang="fr-CA" sz="1100" dirty="0"/>
              <a:t> est une étape plus interprétative qui consiste à donner du sens à ces données.</a:t>
            </a:r>
          </a:p>
          <a:p>
            <a:pPr marL="0" indent="0">
              <a:buNone/>
            </a:pPr>
            <a:r>
              <a:rPr lang="fr-CA" sz="1200" b="1" dirty="0"/>
              <a:t>Pour vous aider à mieux différencier ces deux étapes, vous pouvez vous poser les questions suivantes :</a:t>
            </a:r>
            <a:endParaRPr lang="fr-CA" sz="1200" dirty="0"/>
          </a:p>
          <a:p>
            <a:pPr lvl="1"/>
            <a:r>
              <a:rPr lang="fr-CA" sz="1100" b="1" dirty="0"/>
              <a:t>Lors de l'analyse :</a:t>
            </a:r>
            <a:r>
              <a:rPr lang="fr-CA" sz="1100" dirty="0"/>
              <a:t> Qu'est-ce que les données montrent ? Quels sont les chiffres clés ? Y a-t-il des tendances ?</a:t>
            </a:r>
          </a:p>
          <a:p>
            <a:pPr lvl="1"/>
            <a:r>
              <a:rPr lang="fr-CA" sz="1100" b="1" dirty="0"/>
              <a:t>Lors de la discussion :</a:t>
            </a:r>
            <a:r>
              <a:rPr lang="fr-CA" sz="1100" dirty="0"/>
              <a:t> Qu'est-ce que ces résultats signifient ? Comment s'intègrent-ils dans le champ de recherche ? Quelles sont les limites de cette étude ?</a:t>
            </a:r>
          </a:p>
          <a:p>
            <a:pPr marL="0" indent="0">
              <a:buNone/>
            </a:pPr>
            <a:r>
              <a:rPr lang="fr-CA" sz="1200" dirty="0"/>
              <a:t>En somme, l'analyse et la discussion sont deux facettes indissociables de l'interprétation des résultats d'une recherche. La première permet d'extraire l'information brute, tandis que la seconde permet de lui donner un sens plus profond.</a:t>
            </a:r>
          </a:p>
          <a:p>
            <a:pPr marL="0" indent="0">
              <a:buNone/>
            </a:pPr>
            <a:r>
              <a:rPr lang="fr-CA" sz="1200" b="1" dirty="0"/>
              <a:t>Pour en savoir plus: consulter les ressources suivantes :</a:t>
            </a:r>
            <a:endParaRPr lang="fr-CA" sz="1200" dirty="0"/>
          </a:p>
          <a:p>
            <a:pPr lvl="1"/>
            <a:r>
              <a:rPr lang="fr-CA" sz="1100" b="1" dirty="0"/>
              <a:t>Polyèdre - UQAM :</a:t>
            </a:r>
            <a:r>
              <a:rPr lang="fr-CA" sz="1100" dirty="0"/>
              <a:t> </a:t>
            </a:r>
            <a:r>
              <a:rPr lang="fr-CA" sz="1100" dirty="0">
                <a:hlinkClick r:id="rId2"/>
              </a:rPr>
              <a:t>https://polyedre.uqam.ca/analyse-de-resultats-et-discussion.html</a:t>
            </a:r>
            <a:endParaRPr lang="fr-CA" sz="1100" dirty="0"/>
          </a:p>
          <a:p>
            <a:pPr lvl="1"/>
            <a:r>
              <a:rPr lang="fr-CA" sz="1100" b="1" dirty="0" err="1"/>
              <a:t>DoctoratDonut</a:t>
            </a:r>
            <a:r>
              <a:rPr lang="fr-CA" sz="1100" b="1" dirty="0"/>
              <a:t> :</a:t>
            </a:r>
            <a:r>
              <a:rPr lang="fr-CA" sz="1100" dirty="0"/>
              <a:t> </a:t>
            </a:r>
            <a:r>
              <a:rPr lang="fr-CA" sz="1100" dirty="0">
                <a:hlinkClick r:id="rId3"/>
              </a:rPr>
              <a:t>https://doctoratdonut.com/discussion-et-conclusion-deux-differences-majeures-mais-meconnues/</a:t>
            </a:r>
            <a:endParaRPr lang="fr-CA" sz="1100" dirty="0"/>
          </a:p>
          <a:p>
            <a:pPr marL="0" indent="0">
              <a:buNone/>
            </a:pPr>
            <a:endParaRPr lang="fr-FR" sz="1200" dirty="0"/>
          </a:p>
        </p:txBody>
      </p:sp>
    </p:spTree>
    <p:extLst>
      <p:ext uri="{BB962C8B-B14F-4D97-AF65-F5344CB8AC3E}">
        <p14:creationId xmlns:p14="http://schemas.microsoft.com/office/powerpoint/2010/main" val="328851469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4123</TotalTime>
  <Words>1463</Words>
  <Application>Microsoft Office PowerPoint</Application>
  <PresentationFormat>Grand écran</PresentationFormat>
  <Paragraphs>131</Paragraphs>
  <Slides>11</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11</vt:i4>
      </vt:variant>
    </vt:vector>
  </HeadingPairs>
  <TitlesOfParts>
    <vt:vector size="20" baseType="lpstr">
      <vt:lpstr>Aptos</vt:lpstr>
      <vt:lpstr>Aptos Display</vt:lpstr>
      <vt:lpstr>Arial</vt:lpstr>
      <vt:lpstr>Cambria Math</vt:lpstr>
      <vt:lpstr>Comic Sans MS</vt:lpstr>
      <vt:lpstr>Menlo</vt:lpstr>
      <vt:lpstr>Symbol</vt:lpstr>
      <vt:lpstr>Wingdings</vt:lpstr>
      <vt:lpstr>Thème Office</vt:lpstr>
      <vt:lpstr>Section 4.4 - Introduction à l'optimisation en génie mécanique</vt:lpstr>
      <vt:lpstr>Optimisation en génie mécanique (1/2)</vt:lpstr>
      <vt:lpstr>Optimisation en génie mécanique (2/2)</vt:lpstr>
      <vt:lpstr>Objectif de l’optimisation (1/2)</vt:lpstr>
      <vt:lpstr>Objectif de l’optimisation (2/2)</vt:lpstr>
      <vt:lpstr>Méthodologie d’optimisation (1/4)</vt:lpstr>
      <vt:lpstr>Méthodologie d’optimisation (2/4)</vt:lpstr>
      <vt:lpstr>Méthodologie d’optimisation (3/4)</vt:lpstr>
      <vt:lpstr>Méthodologie d’optimisation (4/4)</vt:lpstr>
      <vt:lpstr>Annexe</vt:lpstr>
      <vt:lpstr>Analyser Versus Discuter des résultats!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Raymond Panneton</dc:creator>
  <cp:lastModifiedBy>Raymond Panneton</cp:lastModifiedBy>
  <cp:revision>4</cp:revision>
  <dcterms:created xsi:type="dcterms:W3CDTF">2024-11-02T14:24:06Z</dcterms:created>
  <dcterms:modified xsi:type="dcterms:W3CDTF">2025-11-10T16:11:52Z</dcterms:modified>
</cp:coreProperties>
</file>